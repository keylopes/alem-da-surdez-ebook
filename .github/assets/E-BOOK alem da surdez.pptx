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257" r:id="rId3"/>
    <p:sldId id="259" r:id="rId4"/>
    <p:sldId id="266" r:id="rId5"/>
    <p:sldId id="261" r:id="rId6"/>
    <p:sldId id="267" r:id="rId7"/>
    <p:sldId id="262" r:id="rId8"/>
    <p:sldId id="268" r:id="rId9"/>
    <p:sldId id="263" r:id="rId10"/>
    <p:sldId id="269" r:id="rId11"/>
    <p:sldId id="265" r:id="rId12"/>
    <p:sldId id="270" r:id="rId13"/>
    <p:sldId id="264" r:id="rId14"/>
    <p:sldId id="271" r:id="rId15"/>
    <p:sldId id="260" r:id="rId16"/>
  </p:sldIdLst>
  <p:sldSz cx="9601200" cy="12801600" type="A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32" userDrawn="1">
          <p15:clr>
            <a:srgbClr val="A4A3A4"/>
          </p15:clr>
        </p15:guide>
        <p15:guide id="2" pos="30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0093"/>
    <a:srgbClr val="194E7F"/>
    <a:srgbClr val="E3226C"/>
    <a:srgbClr val="81C7CE"/>
    <a:srgbClr val="E72176"/>
    <a:srgbClr val="E422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3" d="100"/>
          <a:sy n="43" d="100"/>
        </p:scale>
        <p:origin x="1858" y="62"/>
      </p:cViewPr>
      <p:guideLst>
        <p:guide orient="horz" pos="4032"/>
        <p:guide pos="302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8858F7-10D7-4CD7-B5AA-A1C583DEFB4C}" type="datetimeFigureOut">
              <a:rPr lang="pt-BR" smtClean="0"/>
              <a:t>11/01/2025</a:t>
            </a:fld>
            <a:endParaRPr lang="pt-BR"/>
          </a:p>
        </p:txBody>
      </p:sp>
      <p:sp>
        <p:nvSpPr>
          <p:cNvPr id="4" name="Espaço Reservado para Imagem de Slide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38B37A-6CC1-40D0-88E1-BFFBEFFD3B0E}" type="slidenum">
              <a:rPr lang="pt-BR" smtClean="0"/>
              <a:t>‹nº›</a:t>
            </a:fld>
            <a:endParaRPr lang="pt-BR"/>
          </a:p>
        </p:txBody>
      </p:sp>
    </p:spTree>
    <p:extLst>
      <p:ext uri="{BB962C8B-B14F-4D97-AF65-F5344CB8AC3E}">
        <p14:creationId xmlns:p14="http://schemas.microsoft.com/office/powerpoint/2010/main" val="2933110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fld id="{9738B37A-6CC1-40D0-88E1-BFFBEFFD3B0E}" type="slidenum">
              <a:rPr lang="pt-BR" smtClean="0"/>
              <a:t>2</a:t>
            </a:fld>
            <a:endParaRPr lang="pt-BR"/>
          </a:p>
        </p:txBody>
      </p:sp>
    </p:spTree>
    <p:extLst>
      <p:ext uri="{BB962C8B-B14F-4D97-AF65-F5344CB8AC3E}">
        <p14:creationId xmlns:p14="http://schemas.microsoft.com/office/powerpoint/2010/main" val="26146584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720090" y="2095078"/>
            <a:ext cx="8161020" cy="4456853"/>
          </a:xfrm>
        </p:spPr>
        <p:txBody>
          <a:bodyPr anchor="b"/>
          <a:lstStyle>
            <a:lvl1pPr algn="ctr">
              <a:defRPr sz="6300"/>
            </a:lvl1pPr>
          </a:lstStyle>
          <a:p>
            <a:r>
              <a:rPr lang="pt-BR"/>
              <a:t>Clique para editar o título Mestre</a:t>
            </a:r>
            <a:endParaRPr lang="en-US" dirty="0"/>
          </a:p>
        </p:txBody>
      </p:sp>
      <p:sp>
        <p:nvSpPr>
          <p:cNvPr id="3" name="Subtitle 2"/>
          <p:cNvSpPr>
            <a:spLocks noGrp="1"/>
          </p:cNvSpPr>
          <p:nvPr>
            <p:ph type="subTitle" idx="1"/>
          </p:nvPr>
        </p:nvSpPr>
        <p:spPr>
          <a:xfrm>
            <a:off x="1200150" y="6723804"/>
            <a:ext cx="7200900" cy="3090756"/>
          </a:xfrm>
        </p:spPr>
        <p:txBody>
          <a:bodyPr/>
          <a:lstStyle>
            <a:lvl1pPr marL="0" indent="0" algn="ctr">
              <a:buNone/>
              <a:defRPr sz="2520"/>
            </a:lvl1pPr>
            <a:lvl2pPr marL="480060" indent="0" algn="ctr">
              <a:buNone/>
              <a:defRPr sz="2100"/>
            </a:lvl2pPr>
            <a:lvl3pPr marL="960120" indent="0" algn="ctr">
              <a:buNone/>
              <a:defRPr sz="1890"/>
            </a:lvl3pPr>
            <a:lvl4pPr marL="1440180" indent="0" algn="ctr">
              <a:buNone/>
              <a:defRPr sz="1680"/>
            </a:lvl4pPr>
            <a:lvl5pPr marL="1920240" indent="0" algn="ctr">
              <a:buNone/>
              <a:defRPr sz="1680"/>
            </a:lvl5pPr>
            <a:lvl6pPr marL="2400300" indent="0" algn="ctr">
              <a:buNone/>
              <a:defRPr sz="1680"/>
            </a:lvl6pPr>
            <a:lvl7pPr marL="2880360" indent="0" algn="ctr">
              <a:buNone/>
              <a:defRPr sz="1680"/>
            </a:lvl7pPr>
            <a:lvl8pPr marL="3360420" indent="0" algn="ctr">
              <a:buNone/>
              <a:defRPr sz="1680"/>
            </a:lvl8pPr>
            <a:lvl9pPr marL="3840480" indent="0" algn="ctr">
              <a:buNone/>
              <a:defRPr sz="168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C523D1FA-488C-4C47-8315-09E1E1EE6CB8}" type="datetime1">
              <a:rPr lang="pt-BR" smtClean="0"/>
              <a:t>12/01/2025</a:t>
            </a:fld>
            <a:endParaRPr lang="pt-BR"/>
          </a:p>
        </p:txBody>
      </p:sp>
      <p:sp>
        <p:nvSpPr>
          <p:cNvPr id="5" name="Footer Placeholder 4"/>
          <p:cNvSpPr>
            <a:spLocks noGrp="1"/>
          </p:cNvSpPr>
          <p:nvPr>
            <p:ph type="ftr" sz="quarter" idx="11"/>
          </p:nvPr>
        </p:nvSpPr>
        <p:spPr/>
        <p:txBody>
          <a:bodyPr/>
          <a:lstStyle/>
          <a:p>
            <a:r>
              <a:rPr lang="pt-BR" smtClean="0"/>
              <a:t>Além da Surdez: Vencendo Desafios no Mercado de Trabalho - Keylla Silva Lopes</a:t>
            </a:r>
            <a:endParaRPr lang="pt-BR"/>
          </a:p>
        </p:txBody>
      </p:sp>
      <p:sp>
        <p:nvSpPr>
          <p:cNvPr id="6" name="Slide Number Placeholder 5"/>
          <p:cNvSpPr>
            <a:spLocks noGrp="1"/>
          </p:cNvSpPr>
          <p:nvPr>
            <p:ph type="sldNum" sz="quarter" idx="12"/>
          </p:nvPr>
        </p:nvSpPr>
        <p:spPr/>
        <p:txBody>
          <a:bodyPr/>
          <a:lstStyle/>
          <a:p>
            <a:fld id="{A1070A76-9721-4EC6-9400-468C99D088FF}" type="slidenum">
              <a:rPr lang="pt-BR" smtClean="0"/>
              <a:t>‹nº›</a:t>
            </a:fld>
            <a:endParaRPr lang="pt-BR"/>
          </a:p>
        </p:txBody>
      </p:sp>
    </p:spTree>
    <p:extLst>
      <p:ext uri="{BB962C8B-B14F-4D97-AF65-F5344CB8AC3E}">
        <p14:creationId xmlns:p14="http://schemas.microsoft.com/office/powerpoint/2010/main" val="3396986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ED07FD80-B37E-41F1-8527-0A82E0498F3D}" type="datetime1">
              <a:rPr lang="pt-BR" smtClean="0"/>
              <a:t>12/01/2025</a:t>
            </a:fld>
            <a:endParaRPr lang="pt-BR"/>
          </a:p>
        </p:txBody>
      </p:sp>
      <p:sp>
        <p:nvSpPr>
          <p:cNvPr id="5" name="Footer Placeholder 4"/>
          <p:cNvSpPr>
            <a:spLocks noGrp="1"/>
          </p:cNvSpPr>
          <p:nvPr>
            <p:ph type="ftr" sz="quarter" idx="11"/>
          </p:nvPr>
        </p:nvSpPr>
        <p:spPr/>
        <p:txBody>
          <a:bodyPr/>
          <a:lstStyle/>
          <a:p>
            <a:r>
              <a:rPr lang="pt-BR" smtClean="0"/>
              <a:t>Além da Surdez: Vencendo Desafios no Mercado de Trabalho - Keylla Silva Lopes</a:t>
            </a:r>
            <a:endParaRPr lang="pt-BR"/>
          </a:p>
        </p:txBody>
      </p:sp>
      <p:sp>
        <p:nvSpPr>
          <p:cNvPr id="6" name="Slide Number Placeholder 5"/>
          <p:cNvSpPr>
            <a:spLocks noGrp="1"/>
          </p:cNvSpPr>
          <p:nvPr>
            <p:ph type="sldNum" sz="quarter" idx="12"/>
          </p:nvPr>
        </p:nvSpPr>
        <p:spPr/>
        <p:txBody>
          <a:bodyPr/>
          <a:lstStyle/>
          <a:p>
            <a:fld id="{A1070A76-9721-4EC6-9400-468C99D088FF}" type="slidenum">
              <a:rPr lang="pt-BR" smtClean="0"/>
              <a:t>‹nº›</a:t>
            </a:fld>
            <a:endParaRPr lang="pt-BR"/>
          </a:p>
        </p:txBody>
      </p:sp>
    </p:spTree>
    <p:extLst>
      <p:ext uri="{BB962C8B-B14F-4D97-AF65-F5344CB8AC3E}">
        <p14:creationId xmlns:p14="http://schemas.microsoft.com/office/powerpoint/2010/main" val="2035749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655082" y="3191514"/>
            <a:ext cx="8281035" cy="5325109"/>
          </a:xfrm>
        </p:spPr>
        <p:txBody>
          <a:bodyPr anchor="b"/>
          <a:lstStyle>
            <a:lvl1pPr>
              <a:defRPr sz="6300"/>
            </a:lvl1pPr>
          </a:lstStyle>
          <a:p>
            <a:r>
              <a:rPr lang="pt-BR"/>
              <a:t>Clique para editar o título Mestre</a:t>
            </a:r>
            <a:endParaRPr lang="en-US" dirty="0"/>
          </a:p>
        </p:txBody>
      </p:sp>
      <p:sp>
        <p:nvSpPr>
          <p:cNvPr id="3" name="Text Placeholder 2"/>
          <p:cNvSpPr>
            <a:spLocks noGrp="1"/>
          </p:cNvSpPr>
          <p:nvPr>
            <p:ph type="body" idx="1"/>
          </p:nvPr>
        </p:nvSpPr>
        <p:spPr>
          <a:xfrm>
            <a:off x="655082" y="8567000"/>
            <a:ext cx="8281035" cy="2800349"/>
          </a:xfrm>
        </p:spPr>
        <p:txBody>
          <a:bodyPr/>
          <a:lstStyle>
            <a:lvl1pPr marL="0" indent="0">
              <a:buNone/>
              <a:defRPr sz="2520">
                <a:solidFill>
                  <a:schemeClr val="tx1">
                    <a:tint val="82000"/>
                  </a:schemeClr>
                </a:solidFill>
              </a:defRPr>
            </a:lvl1pPr>
            <a:lvl2pPr marL="480060" indent="0">
              <a:buNone/>
              <a:defRPr sz="2100">
                <a:solidFill>
                  <a:schemeClr val="tx1">
                    <a:tint val="82000"/>
                  </a:schemeClr>
                </a:solidFill>
              </a:defRPr>
            </a:lvl2pPr>
            <a:lvl3pPr marL="960120" indent="0">
              <a:buNone/>
              <a:defRPr sz="1890">
                <a:solidFill>
                  <a:schemeClr val="tx1">
                    <a:tint val="82000"/>
                  </a:schemeClr>
                </a:solidFill>
              </a:defRPr>
            </a:lvl3pPr>
            <a:lvl4pPr marL="1440180" indent="0">
              <a:buNone/>
              <a:defRPr sz="1680">
                <a:solidFill>
                  <a:schemeClr val="tx1">
                    <a:tint val="82000"/>
                  </a:schemeClr>
                </a:solidFill>
              </a:defRPr>
            </a:lvl4pPr>
            <a:lvl5pPr marL="1920240" indent="0">
              <a:buNone/>
              <a:defRPr sz="1680">
                <a:solidFill>
                  <a:schemeClr val="tx1">
                    <a:tint val="82000"/>
                  </a:schemeClr>
                </a:solidFill>
              </a:defRPr>
            </a:lvl5pPr>
            <a:lvl6pPr marL="2400300" indent="0">
              <a:buNone/>
              <a:defRPr sz="1680">
                <a:solidFill>
                  <a:schemeClr val="tx1">
                    <a:tint val="82000"/>
                  </a:schemeClr>
                </a:solidFill>
              </a:defRPr>
            </a:lvl6pPr>
            <a:lvl7pPr marL="2880360" indent="0">
              <a:buNone/>
              <a:defRPr sz="1680">
                <a:solidFill>
                  <a:schemeClr val="tx1">
                    <a:tint val="82000"/>
                  </a:schemeClr>
                </a:solidFill>
              </a:defRPr>
            </a:lvl7pPr>
            <a:lvl8pPr marL="3360420" indent="0">
              <a:buNone/>
              <a:defRPr sz="1680">
                <a:solidFill>
                  <a:schemeClr val="tx1">
                    <a:tint val="82000"/>
                  </a:schemeClr>
                </a:solidFill>
              </a:defRPr>
            </a:lvl8pPr>
            <a:lvl9pPr marL="3840480" indent="0">
              <a:buNone/>
              <a:defRPr sz="1680">
                <a:solidFill>
                  <a:schemeClr val="tx1">
                    <a:tint val="82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462BE6A2-C018-4E3F-84F2-07D6CF56638C}" type="datetime1">
              <a:rPr lang="pt-BR" smtClean="0"/>
              <a:t>12/01/2025</a:t>
            </a:fld>
            <a:endParaRPr lang="pt-BR"/>
          </a:p>
        </p:txBody>
      </p:sp>
      <p:sp>
        <p:nvSpPr>
          <p:cNvPr id="5" name="Footer Placeholder 4"/>
          <p:cNvSpPr>
            <a:spLocks noGrp="1"/>
          </p:cNvSpPr>
          <p:nvPr>
            <p:ph type="ftr" sz="quarter" idx="11"/>
          </p:nvPr>
        </p:nvSpPr>
        <p:spPr/>
        <p:txBody>
          <a:bodyPr/>
          <a:lstStyle/>
          <a:p>
            <a:r>
              <a:rPr lang="pt-BR" smtClean="0"/>
              <a:t>Além da Surdez: Vencendo Desafios no Mercado de Trabalho - Keylla Silva Lopes</a:t>
            </a:r>
            <a:endParaRPr lang="pt-BR"/>
          </a:p>
        </p:txBody>
      </p:sp>
      <p:sp>
        <p:nvSpPr>
          <p:cNvPr id="6" name="Slide Number Placeholder 5"/>
          <p:cNvSpPr>
            <a:spLocks noGrp="1"/>
          </p:cNvSpPr>
          <p:nvPr>
            <p:ph type="sldNum" sz="quarter" idx="12"/>
          </p:nvPr>
        </p:nvSpPr>
        <p:spPr/>
        <p:txBody>
          <a:bodyPr/>
          <a:lstStyle/>
          <a:p>
            <a:fld id="{A1070A76-9721-4EC6-9400-468C99D088FF}" type="slidenum">
              <a:rPr lang="pt-BR" smtClean="0"/>
              <a:t>‹nº›</a:t>
            </a:fld>
            <a:endParaRPr lang="pt-BR"/>
          </a:p>
        </p:txBody>
      </p:sp>
    </p:spTree>
    <p:extLst>
      <p:ext uri="{BB962C8B-B14F-4D97-AF65-F5344CB8AC3E}">
        <p14:creationId xmlns:p14="http://schemas.microsoft.com/office/powerpoint/2010/main" val="1068116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660083" y="3407833"/>
            <a:ext cx="4080510" cy="812249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4860608" y="3407833"/>
            <a:ext cx="4080510" cy="812249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45A1FB5A-6FE3-4D80-835E-AFC54F8FEB6E}" type="datetime1">
              <a:rPr lang="pt-BR" smtClean="0"/>
              <a:t>12/01/2025</a:t>
            </a:fld>
            <a:endParaRPr lang="pt-BR"/>
          </a:p>
        </p:txBody>
      </p:sp>
      <p:sp>
        <p:nvSpPr>
          <p:cNvPr id="6" name="Footer Placeholder 5"/>
          <p:cNvSpPr>
            <a:spLocks noGrp="1"/>
          </p:cNvSpPr>
          <p:nvPr>
            <p:ph type="ftr" sz="quarter" idx="11"/>
          </p:nvPr>
        </p:nvSpPr>
        <p:spPr/>
        <p:txBody>
          <a:bodyPr/>
          <a:lstStyle/>
          <a:p>
            <a:r>
              <a:rPr lang="pt-BR" smtClean="0"/>
              <a:t>Além da Surdez: Vencendo Desafios no Mercado de Trabalho - Keylla Silva Lopes</a:t>
            </a:r>
            <a:endParaRPr lang="pt-BR"/>
          </a:p>
        </p:txBody>
      </p:sp>
      <p:sp>
        <p:nvSpPr>
          <p:cNvPr id="7" name="Slide Number Placeholder 6"/>
          <p:cNvSpPr>
            <a:spLocks noGrp="1"/>
          </p:cNvSpPr>
          <p:nvPr>
            <p:ph type="sldNum" sz="quarter" idx="12"/>
          </p:nvPr>
        </p:nvSpPr>
        <p:spPr/>
        <p:txBody>
          <a:bodyPr/>
          <a:lstStyle/>
          <a:p>
            <a:fld id="{A1070A76-9721-4EC6-9400-468C99D088FF}" type="slidenum">
              <a:rPr lang="pt-BR" smtClean="0"/>
              <a:t>‹nº›</a:t>
            </a:fld>
            <a:endParaRPr lang="pt-BR"/>
          </a:p>
        </p:txBody>
      </p:sp>
    </p:spTree>
    <p:extLst>
      <p:ext uri="{BB962C8B-B14F-4D97-AF65-F5344CB8AC3E}">
        <p14:creationId xmlns:p14="http://schemas.microsoft.com/office/powerpoint/2010/main" val="1241552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661333" y="681570"/>
            <a:ext cx="8281035" cy="2474384"/>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661334" y="3138171"/>
            <a:ext cx="4061757" cy="1537969"/>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pt-BR"/>
              <a:t>Clique para editar os estilos de texto Mestres</a:t>
            </a:r>
          </a:p>
        </p:txBody>
      </p:sp>
      <p:sp>
        <p:nvSpPr>
          <p:cNvPr id="4" name="Content Placeholder 3"/>
          <p:cNvSpPr>
            <a:spLocks noGrp="1"/>
          </p:cNvSpPr>
          <p:nvPr>
            <p:ph sz="half" idx="2"/>
          </p:nvPr>
        </p:nvSpPr>
        <p:spPr>
          <a:xfrm>
            <a:off x="661334" y="4676140"/>
            <a:ext cx="4061757" cy="687789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4860608" y="3138171"/>
            <a:ext cx="4081761" cy="1537969"/>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pt-BR"/>
              <a:t>Clique para editar os estilos de texto Mestres</a:t>
            </a:r>
          </a:p>
        </p:txBody>
      </p:sp>
      <p:sp>
        <p:nvSpPr>
          <p:cNvPr id="6" name="Content Placeholder 5"/>
          <p:cNvSpPr>
            <a:spLocks noGrp="1"/>
          </p:cNvSpPr>
          <p:nvPr>
            <p:ph sz="quarter" idx="4"/>
          </p:nvPr>
        </p:nvSpPr>
        <p:spPr>
          <a:xfrm>
            <a:off x="4860608" y="4676140"/>
            <a:ext cx="4081761" cy="687789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58AF4485-32C2-4022-A7AE-9CA203EDD4E9}" type="datetime1">
              <a:rPr lang="pt-BR" smtClean="0"/>
              <a:t>12/01/2025</a:t>
            </a:fld>
            <a:endParaRPr lang="pt-BR"/>
          </a:p>
        </p:txBody>
      </p:sp>
      <p:sp>
        <p:nvSpPr>
          <p:cNvPr id="8" name="Footer Placeholder 7"/>
          <p:cNvSpPr>
            <a:spLocks noGrp="1"/>
          </p:cNvSpPr>
          <p:nvPr>
            <p:ph type="ftr" sz="quarter" idx="11"/>
          </p:nvPr>
        </p:nvSpPr>
        <p:spPr/>
        <p:txBody>
          <a:bodyPr/>
          <a:lstStyle/>
          <a:p>
            <a:r>
              <a:rPr lang="pt-BR" smtClean="0"/>
              <a:t>Além da Surdez: Vencendo Desafios no Mercado de Trabalho - Keylla Silva Lopes</a:t>
            </a:r>
            <a:endParaRPr lang="pt-BR"/>
          </a:p>
        </p:txBody>
      </p:sp>
      <p:sp>
        <p:nvSpPr>
          <p:cNvPr id="9" name="Slide Number Placeholder 8"/>
          <p:cNvSpPr>
            <a:spLocks noGrp="1"/>
          </p:cNvSpPr>
          <p:nvPr>
            <p:ph type="sldNum" sz="quarter" idx="12"/>
          </p:nvPr>
        </p:nvSpPr>
        <p:spPr/>
        <p:txBody>
          <a:bodyPr/>
          <a:lstStyle/>
          <a:p>
            <a:fld id="{A1070A76-9721-4EC6-9400-468C99D088FF}" type="slidenum">
              <a:rPr lang="pt-BR" smtClean="0"/>
              <a:t>‹nº›</a:t>
            </a:fld>
            <a:endParaRPr lang="pt-BR"/>
          </a:p>
        </p:txBody>
      </p:sp>
    </p:spTree>
    <p:extLst>
      <p:ext uri="{BB962C8B-B14F-4D97-AF65-F5344CB8AC3E}">
        <p14:creationId xmlns:p14="http://schemas.microsoft.com/office/powerpoint/2010/main" val="519474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241B4007-F603-4341-B76D-5AFE48737828}" type="datetime1">
              <a:rPr lang="pt-BR" smtClean="0"/>
              <a:t>12/01/2025</a:t>
            </a:fld>
            <a:endParaRPr lang="pt-BR"/>
          </a:p>
        </p:txBody>
      </p:sp>
      <p:sp>
        <p:nvSpPr>
          <p:cNvPr id="4" name="Footer Placeholder 3"/>
          <p:cNvSpPr>
            <a:spLocks noGrp="1"/>
          </p:cNvSpPr>
          <p:nvPr>
            <p:ph type="ftr" sz="quarter" idx="11"/>
          </p:nvPr>
        </p:nvSpPr>
        <p:spPr/>
        <p:txBody>
          <a:bodyPr/>
          <a:lstStyle/>
          <a:p>
            <a:r>
              <a:rPr lang="pt-BR" smtClean="0"/>
              <a:t>Além da Surdez: Vencendo Desafios no Mercado de Trabalho - Keylla Silva Lopes</a:t>
            </a:r>
            <a:endParaRPr lang="pt-BR"/>
          </a:p>
        </p:txBody>
      </p:sp>
      <p:sp>
        <p:nvSpPr>
          <p:cNvPr id="5" name="Slide Number Placeholder 4"/>
          <p:cNvSpPr>
            <a:spLocks noGrp="1"/>
          </p:cNvSpPr>
          <p:nvPr>
            <p:ph type="sldNum" sz="quarter" idx="12"/>
          </p:nvPr>
        </p:nvSpPr>
        <p:spPr/>
        <p:txBody>
          <a:bodyPr/>
          <a:lstStyle/>
          <a:p>
            <a:fld id="{A1070A76-9721-4EC6-9400-468C99D088FF}" type="slidenum">
              <a:rPr lang="pt-BR" smtClean="0"/>
              <a:t>‹nº›</a:t>
            </a:fld>
            <a:endParaRPr lang="pt-BR"/>
          </a:p>
        </p:txBody>
      </p:sp>
    </p:spTree>
    <p:extLst>
      <p:ext uri="{BB962C8B-B14F-4D97-AF65-F5344CB8AC3E}">
        <p14:creationId xmlns:p14="http://schemas.microsoft.com/office/powerpoint/2010/main" val="1529789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3CBF0D-3768-4A42-99E2-B3C81F9CE803}" type="datetime1">
              <a:rPr lang="pt-BR" smtClean="0"/>
              <a:t>12/01/2025</a:t>
            </a:fld>
            <a:endParaRPr lang="pt-BR"/>
          </a:p>
        </p:txBody>
      </p:sp>
      <p:sp>
        <p:nvSpPr>
          <p:cNvPr id="3" name="Footer Placeholder 2"/>
          <p:cNvSpPr>
            <a:spLocks noGrp="1"/>
          </p:cNvSpPr>
          <p:nvPr>
            <p:ph type="ftr" sz="quarter" idx="11"/>
          </p:nvPr>
        </p:nvSpPr>
        <p:spPr/>
        <p:txBody>
          <a:bodyPr/>
          <a:lstStyle/>
          <a:p>
            <a:r>
              <a:rPr lang="pt-BR" smtClean="0"/>
              <a:t>Além da Surdez: Vencendo Desafios no Mercado de Trabalho - Keylla Silva Lopes</a:t>
            </a:r>
            <a:endParaRPr lang="pt-BR"/>
          </a:p>
        </p:txBody>
      </p:sp>
      <p:sp>
        <p:nvSpPr>
          <p:cNvPr id="4" name="Slide Number Placeholder 3"/>
          <p:cNvSpPr>
            <a:spLocks noGrp="1"/>
          </p:cNvSpPr>
          <p:nvPr>
            <p:ph type="sldNum" sz="quarter" idx="12"/>
          </p:nvPr>
        </p:nvSpPr>
        <p:spPr/>
        <p:txBody>
          <a:bodyPr/>
          <a:lstStyle/>
          <a:p>
            <a:fld id="{A1070A76-9721-4EC6-9400-468C99D088FF}" type="slidenum">
              <a:rPr lang="pt-BR" smtClean="0"/>
              <a:t>‹nº›</a:t>
            </a:fld>
            <a:endParaRPr lang="pt-BR"/>
          </a:p>
        </p:txBody>
      </p:sp>
    </p:spTree>
    <p:extLst>
      <p:ext uri="{BB962C8B-B14F-4D97-AF65-F5344CB8AC3E}">
        <p14:creationId xmlns:p14="http://schemas.microsoft.com/office/powerpoint/2010/main" val="2492875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61333" y="853440"/>
            <a:ext cx="3096637" cy="2987040"/>
          </a:xfrm>
        </p:spPr>
        <p:txBody>
          <a:bodyPr anchor="b"/>
          <a:lstStyle>
            <a:lvl1pPr>
              <a:defRPr sz="3360"/>
            </a:lvl1pPr>
          </a:lstStyle>
          <a:p>
            <a:r>
              <a:rPr lang="pt-BR"/>
              <a:t>Clique para editar o título Mestre</a:t>
            </a:r>
            <a:endParaRPr lang="en-US" dirty="0"/>
          </a:p>
        </p:txBody>
      </p:sp>
      <p:sp>
        <p:nvSpPr>
          <p:cNvPr id="3" name="Content Placeholder 2"/>
          <p:cNvSpPr>
            <a:spLocks noGrp="1"/>
          </p:cNvSpPr>
          <p:nvPr>
            <p:ph idx="1"/>
          </p:nvPr>
        </p:nvSpPr>
        <p:spPr>
          <a:xfrm>
            <a:off x="4081760" y="1843196"/>
            <a:ext cx="4860608" cy="9097433"/>
          </a:xfrm>
        </p:spPr>
        <p:txBody>
          <a:bodyPr/>
          <a:lstStyle>
            <a:lvl1pPr>
              <a:defRPr sz="3360"/>
            </a:lvl1pPr>
            <a:lvl2pPr>
              <a:defRPr sz="2940"/>
            </a:lvl2pPr>
            <a:lvl3pPr>
              <a:defRPr sz="2520"/>
            </a:lvl3pPr>
            <a:lvl4pPr>
              <a:defRPr sz="2100"/>
            </a:lvl4pPr>
            <a:lvl5pPr>
              <a:defRPr sz="2100"/>
            </a:lvl5pPr>
            <a:lvl6pPr>
              <a:defRPr sz="2100"/>
            </a:lvl6pPr>
            <a:lvl7pPr>
              <a:defRPr sz="2100"/>
            </a:lvl7pPr>
            <a:lvl8pPr>
              <a:defRPr sz="2100"/>
            </a:lvl8pPr>
            <a:lvl9pPr>
              <a:defRPr sz="21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661333" y="3840480"/>
            <a:ext cx="3096637" cy="7114964"/>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80D9BB89-10F5-44CE-8466-D3DD2D4D3177}" type="datetime1">
              <a:rPr lang="pt-BR" smtClean="0"/>
              <a:t>12/01/2025</a:t>
            </a:fld>
            <a:endParaRPr lang="pt-BR"/>
          </a:p>
        </p:txBody>
      </p:sp>
      <p:sp>
        <p:nvSpPr>
          <p:cNvPr id="6" name="Footer Placeholder 5"/>
          <p:cNvSpPr>
            <a:spLocks noGrp="1"/>
          </p:cNvSpPr>
          <p:nvPr>
            <p:ph type="ftr" sz="quarter" idx="11"/>
          </p:nvPr>
        </p:nvSpPr>
        <p:spPr/>
        <p:txBody>
          <a:bodyPr/>
          <a:lstStyle/>
          <a:p>
            <a:r>
              <a:rPr lang="pt-BR" smtClean="0"/>
              <a:t>Além da Surdez: Vencendo Desafios no Mercado de Trabalho - Keylla Silva Lopes</a:t>
            </a:r>
            <a:endParaRPr lang="pt-BR"/>
          </a:p>
        </p:txBody>
      </p:sp>
      <p:sp>
        <p:nvSpPr>
          <p:cNvPr id="7" name="Slide Number Placeholder 6"/>
          <p:cNvSpPr>
            <a:spLocks noGrp="1"/>
          </p:cNvSpPr>
          <p:nvPr>
            <p:ph type="sldNum" sz="quarter" idx="12"/>
          </p:nvPr>
        </p:nvSpPr>
        <p:spPr/>
        <p:txBody>
          <a:bodyPr/>
          <a:lstStyle/>
          <a:p>
            <a:fld id="{A1070A76-9721-4EC6-9400-468C99D088FF}" type="slidenum">
              <a:rPr lang="pt-BR" smtClean="0"/>
              <a:t>‹nº›</a:t>
            </a:fld>
            <a:endParaRPr lang="pt-BR"/>
          </a:p>
        </p:txBody>
      </p:sp>
    </p:spTree>
    <p:extLst>
      <p:ext uri="{BB962C8B-B14F-4D97-AF65-F5344CB8AC3E}">
        <p14:creationId xmlns:p14="http://schemas.microsoft.com/office/powerpoint/2010/main" val="2204675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61333" y="853440"/>
            <a:ext cx="3096637" cy="2987040"/>
          </a:xfrm>
        </p:spPr>
        <p:txBody>
          <a:bodyPr anchor="b"/>
          <a:lstStyle>
            <a:lvl1pPr>
              <a:defRPr sz="336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4081760" y="1843196"/>
            <a:ext cx="4860608" cy="9097433"/>
          </a:xfrm>
        </p:spPr>
        <p:txBody>
          <a:bodyPr anchor="t"/>
          <a:lstStyle>
            <a:lvl1pPr marL="0" indent="0">
              <a:buNone/>
              <a:defRPr sz="3360"/>
            </a:lvl1pPr>
            <a:lvl2pPr marL="480060" indent="0">
              <a:buNone/>
              <a:defRPr sz="2940"/>
            </a:lvl2pPr>
            <a:lvl3pPr marL="960120" indent="0">
              <a:buNone/>
              <a:defRPr sz="2520"/>
            </a:lvl3pPr>
            <a:lvl4pPr marL="1440180" indent="0">
              <a:buNone/>
              <a:defRPr sz="2100"/>
            </a:lvl4pPr>
            <a:lvl5pPr marL="1920240" indent="0">
              <a:buNone/>
              <a:defRPr sz="2100"/>
            </a:lvl5pPr>
            <a:lvl6pPr marL="2400300" indent="0">
              <a:buNone/>
              <a:defRPr sz="2100"/>
            </a:lvl6pPr>
            <a:lvl7pPr marL="2880360" indent="0">
              <a:buNone/>
              <a:defRPr sz="2100"/>
            </a:lvl7pPr>
            <a:lvl8pPr marL="3360420" indent="0">
              <a:buNone/>
              <a:defRPr sz="2100"/>
            </a:lvl8pPr>
            <a:lvl9pPr marL="3840480" indent="0">
              <a:buNone/>
              <a:defRPr sz="2100"/>
            </a:lvl9pPr>
          </a:lstStyle>
          <a:p>
            <a:r>
              <a:rPr lang="pt-BR"/>
              <a:t>Clique no ícone para adicionar uma imagem</a:t>
            </a:r>
            <a:endParaRPr lang="en-US" dirty="0"/>
          </a:p>
        </p:txBody>
      </p:sp>
      <p:sp>
        <p:nvSpPr>
          <p:cNvPr id="4" name="Text Placeholder 3"/>
          <p:cNvSpPr>
            <a:spLocks noGrp="1"/>
          </p:cNvSpPr>
          <p:nvPr>
            <p:ph type="body" sz="half" idx="2"/>
          </p:nvPr>
        </p:nvSpPr>
        <p:spPr>
          <a:xfrm>
            <a:off x="661333" y="3840480"/>
            <a:ext cx="3096637" cy="7114964"/>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C1F35C57-AB9F-46F8-8F02-A927BD998A52}" type="datetime1">
              <a:rPr lang="pt-BR" smtClean="0"/>
              <a:t>12/01/2025</a:t>
            </a:fld>
            <a:endParaRPr lang="pt-BR"/>
          </a:p>
        </p:txBody>
      </p:sp>
      <p:sp>
        <p:nvSpPr>
          <p:cNvPr id="6" name="Footer Placeholder 5"/>
          <p:cNvSpPr>
            <a:spLocks noGrp="1"/>
          </p:cNvSpPr>
          <p:nvPr>
            <p:ph type="ftr" sz="quarter" idx="11"/>
          </p:nvPr>
        </p:nvSpPr>
        <p:spPr/>
        <p:txBody>
          <a:bodyPr/>
          <a:lstStyle/>
          <a:p>
            <a:r>
              <a:rPr lang="pt-BR" smtClean="0"/>
              <a:t>Além da Surdez: Vencendo Desafios no Mercado de Trabalho - Keylla Silva Lopes</a:t>
            </a:r>
            <a:endParaRPr lang="pt-BR"/>
          </a:p>
        </p:txBody>
      </p:sp>
      <p:sp>
        <p:nvSpPr>
          <p:cNvPr id="7" name="Slide Number Placeholder 6"/>
          <p:cNvSpPr>
            <a:spLocks noGrp="1"/>
          </p:cNvSpPr>
          <p:nvPr>
            <p:ph type="sldNum" sz="quarter" idx="12"/>
          </p:nvPr>
        </p:nvSpPr>
        <p:spPr/>
        <p:txBody>
          <a:bodyPr/>
          <a:lstStyle/>
          <a:p>
            <a:fld id="{A1070A76-9721-4EC6-9400-468C99D088FF}" type="slidenum">
              <a:rPr lang="pt-BR" smtClean="0"/>
              <a:t>‹nº›</a:t>
            </a:fld>
            <a:endParaRPr lang="pt-BR"/>
          </a:p>
        </p:txBody>
      </p:sp>
    </p:spTree>
    <p:extLst>
      <p:ext uri="{BB962C8B-B14F-4D97-AF65-F5344CB8AC3E}">
        <p14:creationId xmlns:p14="http://schemas.microsoft.com/office/powerpoint/2010/main" val="1497176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50C72874-C350-48D2-BB09-1B74019EE3BE}" type="datetime1">
              <a:rPr lang="pt-BR" smtClean="0"/>
              <a:t>12/01/2025</a:t>
            </a:fld>
            <a:endParaRPr lang="pt-BR"/>
          </a:p>
        </p:txBody>
      </p:sp>
      <p:sp>
        <p:nvSpPr>
          <p:cNvPr id="5" name="Footer Placeholder 4"/>
          <p:cNvSpPr>
            <a:spLocks noGrp="1"/>
          </p:cNvSpPr>
          <p:nvPr>
            <p:ph type="ftr" sz="quarter" idx="11"/>
          </p:nvPr>
        </p:nvSpPr>
        <p:spPr/>
        <p:txBody>
          <a:bodyPr/>
          <a:lstStyle/>
          <a:p>
            <a:r>
              <a:rPr lang="pt-BR" smtClean="0"/>
              <a:t>Além da Surdez: Vencendo Desafios no Mercado de Trabalho - Keylla Silva Lopes</a:t>
            </a:r>
            <a:endParaRPr lang="pt-BR"/>
          </a:p>
        </p:txBody>
      </p:sp>
      <p:sp>
        <p:nvSpPr>
          <p:cNvPr id="6" name="Slide Number Placeholder 5"/>
          <p:cNvSpPr>
            <a:spLocks noGrp="1"/>
          </p:cNvSpPr>
          <p:nvPr>
            <p:ph type="sldNum" sz="quarter" idx="12"/>
          </p:nvPr>
        </p:nvSpPr>
        <p:spPr/>
        <p:txBody>
          <a:bodyPr/>
          <a:lstStyle/>
          <a:p>
            <a:fld id="{A1070A76-9721-4EC6-9400-468C99D088FF}" type="slidenum">
              <a:rPr lang="pt-BR" smtClean="0"/>
              <a:t>‹nº›</a:t>
            </a:fld>
            <a:endParaRPr lang="pt-BR"/>
          </a:p>
        </p:txBody>
      </p:sp>
    </p:spTree>
    <p:extLst>
      <p:ext uri="{BB962C8B-B14F-4D97-AF65-F5344CB8AC3E}">
        <p14:creationId xmlns:p14="http://schemas.microsoft.com/office/powerpoint/2010/main" val="2174615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0859" y="681567"/>
            <a:ext cx="2070259" cy="10848764"/>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660083" y="681567"/>
            <a:ext cx="6090761" cy="10848764"/>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DDB1A580-F5F7-4C94-814C-8755A86E454F}" type="datetime1">
              <a:rPr lang="pt-BR" smtClean="0"/>
              <a:t>12/01/2025</a:t>
            </a:fld>
            <a:endParaRPr lang="pt-BR"/>
          </a:p>
        </p:txBody>
      </p:sp>
      <p:sp>
        <p:nvSpPr>
          <p:cNvPr id="5" name="Footer Placeholder 4"/>
          <p:cNvSpPr>
            <a:spLocks noGrp="1"/>
          </p:cNvSpPr>
          <p:nvPr>
            <p:ph type="ftr" sz="quarter" idx="11"/>
          </p:nvPr>
        </p:nvSpPr>
        <p:spPr/>
        <p:txBody>
          <a:bodyPr/>
          <a:lstStyle/>
          <a:p>
            <a:r>
              <a:rPr lang="pt-BR" smtClean="0"/>
              <a:t>Além da Surdez: Vencendo Desafios no Mercado de Trabalho - Keylla Silva Lopes</a:t>
            </a:r>
            <a:endParaRPr lang="pt-BR"/>
          </a:p>
        </p:txBody>
      </p:sp>
      <p:sp>
        <p:nvSpPr>
          <p:cNvPr id="6" name="Slide Number Placeholder 5"/>
          <p:cNvSpPr>
            <a:spLocks noGrp="1"/>
          </p:cNvSpPr>
          <p:nvPr>
            <p:ph type="sldNum" sz="quarter" idx="12"/>
          </p:nvPr>
        </p:nvSpPr>
        <p:spPr/>
        <p:txBody>
          <a:bodyPr/>
          <a:lstStyle/>
          <a:p>
            <a:fld id="{A1070A76-9721-4EC6-9400-468C99D088FF}" type="slidenum">
              <a:rPr lang="pt-BR" smtClean="0"/>
              <a:t>‹nº›</a:t>
            </a:fld>
            <a:endParaRPr lang="pt-BR"/>
          </a:p>
        </p:txBody>
      </p:sp>
    </p:spTree>
    <p:extLst>
      <p:ext uri="{BB962C8B-B14F-4D97-AF65-F5344CB8AC3E}">
        <p14:creationId xmlns:p14="http://schemas.microsoft.com/office/powerpoint/2010/main" val="818088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0083" y="681570"/>
            <a:ext cx="8281035" cy="2474384"/>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660083" y="3407833"/>
            <a:ext cx="8281035" cy="812249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660083" y="11865189"/>
            <a:ext cx="2160270" cy="681567"/>
          </a:xfrm>
          <a:prstGeom prst="rect">
            <a:avLst/>
          </a:prstGeom>
        </p:spPr>
        <p:txBody>
          <a:bodyPr vert="horz" lIns="91440" tIns="45720" rIns="91440" bIns="45720" rtlCol="0" anchor="ctr"/>
          <a:lstStyle>
            <a:lvl1pPr algn="l">
              <a:defRPr sz="1260">
                <a:solidFill>
                  <a:schemeClr val="tx1">
                    <a:tint val="82000"/>
                  </a:schemeClr>
                </a:solidFill>
              </a:defRPr>
            </a:lvl1pPr>
          </a:lstStyle>
          <a:p>
            <a:fld id="{A51B3116-D846-42CD-87F9-E922CDB1D4D6}" type="datetime1">
              <a:rPr lang="pt-BR" smtClean="0"/>
              <a:t>12/01/2025</a:t>
            </a:fld>
            <a:endParaRPr lang="pt-BR"/>
          </a:p>
        </p:txBody>
      </p:sp>
      <p:sp>
        <p:nvSpPr>
          <p:cNvPr id="5" name="Footer Placeholder 4"/>
          <p:cNvSpPr>
            <a:spLocks noGrp="1"/>
          </p:cNvSpPr>
          <p:nvPr>
            <p:ph type="ftr" sz="quarter" idx="3"/>
          </p:nvPr>
        </p:nvSpPr>
        <p:spPr>
          <a:xfrm>
            <a:off x="3180398" y="11865189"/>
            <a:ext cx="3240405" cy="681567"/>
          </a:xfrm>
          <a:prstGeom prst="rect">
            <a:avLst/>
          </a:prstGeom>
        </p:spPr>
        <p:txBody>
          <a:bodyPr vert="horz" lIns="91440" tIns="45720" rIns="91440" bIns="45720" rtlCol="0" anchor="ctr"/>
          <a:lstStyle>
            <a:lvl1pPr algn="ctr">
              <a:defRPr sz="1260">
                <a:solidFill>
                  <a:schemeClr val="tx1">
                    <a:tint val="82000"/>
                  </a:schemeClr>
                </a:solidFill>
              </a:defRPr>
            </a:lvl1pPr>
          </a:lstStyle>
          <a:p>
            <a:r>
              <a:rPr lang="pt-BR" smtClean="0"/>
              <a:t>Além da Surdez: Vencendo Desafios no Mercado de Trabalho - Keylla Silva Lopes</a:t>
            </a:r>
            <a:endParaRPr lang="pt-BR"/>
          </a:p>
        </p:txBody>
      </p:sp>
      <p:sp>
        <p:nvSpPr>
          <p:cNvPr id="6" name="Slide Number Placeholder 5"/>
          <p:cNvSpPr>
            <a:spLocks noGrp="1"/>
          </p:cNvSpPr>
          <p:nvPr>
            <p:ph type="sldNum" sz="quarter" idx="4"/>
          </p:nvPr>
        </p:nvSpPr>
        <p:spPr>
          <a:xfrm>
            <a:off x="6780848" y="11865189"/>
            <a:ext cx="2160270" cy="681567"/>
          </a:xfrm>
          <a:prstGeom prst="rect">
            <a:avLst/>
          </a:prstGeom>
        </p:spPr>
        <p:txBody>
          <a:bodyPr vert="horz" lIns="91440" tIns="45720" rIns="91440" bIns="45720" rtlCol="0" anchor="ctr"/>
          <a:lstStyle>
            <a:lvl1pPr algn="r">
              <a:defRPr sz="1260">
                <a:solidFill>
                  <a:schemeClr val="tx1">
                    <a:tint val="82000"/>
                  </a:schemeClr>
                </a:solidFill>
              </a:defRPr>
            </a:lvl1pPr>
          </a:lstStyle>
          <a:p>
            <a:fld id="{A1070A76-9721-4EC6-9400-468C99D088FF}" type="slidenum">
              <a:rPr lang="pt-BR" smtClean="0"/>
              <a:t>‹nº›</a:t>
            </a:fld>
            <a:endParaRPr lang="pt-BR"/>
          </a:p>
        </p:txBody>
      </p:sp>
    </p:spTree>
    <p:extLst>
      <p:ext uri="{BB962C8B-B14F-4D97-AF65-F5344CB8AC3E}">
        <p14:creationId xmlns:p14="http://schemas.microsoft.com/office/powerpoint/2010/main" val="2178521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60120" rtl="0" eaLnBrk="1" latinLnBrk="0" hangingPunct="1">
        <a:lnSpc>
          <a:spcPct val="90000"/>
        </a:lnSpc>
        <a:spcBef>
          <a:spcPct val="0"/>
        </a:spcBef>
        <a:buNone/>
        <a:defRPr sz="4620" kern="1200">
          <a:solidFill>
            <a:schemeClr val="tx1"/>
          </a:solidFill>
          <a:latin typeface="+mj-lt"/>
          <a:ea typeface="+mj-ea"/>
          <a:cs typeface="+mj-cs"/>
        </a:defRPr>
      </a:lvl1pPr>
    </p:titleStyle>
    <p:bodyStyle>
      <a:lvl1pPr marL="240030" indent="-240030" algn="l" defTabSz="960120" rtl="0" eaLnBrk="1" latinLnBrk="0" hangingPunct="1">
        <a:lnSpc>
          <a:spcPct val="90000"/>
        </a:lnSpc>
        <a:spcBef>
          <a:spcPts val="1050"/>
        </a:spcBef>
        <a:buFont typeface="Arial" panose="020B0604020202020204" pitchFamily="34" charset="0"/>
        <a:buChar char="•"/>
        <a:defRPr sz="2940" kern="1200">
          <a:solidFill>
            <a:schemeClr val="tx1"/>
          </a:solidFill>
          <a:latin typeface="+mn-lt"/>
          <a:ea typeface="+mn-ea"/>
          <a:cs typeface="+mn-cs"/>
        </a:defRPr>
      </a:lvl1pPr>
      <a:lvl2pPr marL="720090" indent="-240030" algn="l" defTabSz="960120" rtl="0" eaLnBrk="1" latinLnBrk="0" hangingPunct="1">
        <a:lnSpc>
          <a:spcPct val="90000"/>
        </a:lnSpc>
        <a:spcBef>
          <a:spcPts val="525"/>
        </a:spcBef>
        <a:buFont typeface="Arial" panose="020B0604020202020204" pitchFamily="34" charset="0"/>
        <a:buChar char="•"/>
        <a:defRPr sz="2520" kern="1200">
          <a:solidFill>
            <a:schemeClr val="tx1"/>
          </a:solidFill>
          <a:latin typeface="+mn-lt"/>
          <a:ea typeface="+mn-ea"/>
          <a:cs typeface="+mn-cs"/>
        </a:defRPr>
      </a:lvl2pPr>
      <a:lvl3pPr marL="1200150" indent="-240030" algn="l" defTabSz="960120" rtl="0" eaLnBrk="1" latinLnBrk="0" hangingPunct="1">
        <a:lnSpc>
          <a:spcPct val="90000"/>
        </a:lnSpc>
        <a:spcBef>
          <a:spcPts val="525"/>
        </a:spcBef>
        <a:buFont typeface="Arial" panose="020B0604020202020204" pitchFamily="34" charset="0"/>
        <a:buChar char="•"/>
        <a:defRPr sz="2100" kern="1200">
          <a:solidFill>
            <a:schemeClr val="tx1"/>
          </a:solidFill>
          <a:latin typeface="+mn-lt"/>
          <a:ea typeface="+mn-ea"/>
          <a:cs typeface="+mn-cs"/>
        </a:defRPr>
      </a:lvl3pPr>
      <a:lvl4pPr marL="16802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4pPr>
      <a:lvl5pPr marL="216027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5pPr>
      <a:lvl6pPr marL="264033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6pPr>
      <a:lvl7pPr marL="312039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7pPr>
      <a:lvl8pPr marL="360045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8pPr>
      <a:lvl9pPr marL="40805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9pPr>
    </p:bodyStyle>
    <p:otherStyle>
      <a:defPPr>
        <a:defRPr lang="en-US"/>
      </a:defPPr>
      <a:lvl1pPr marL="0" algn="l" defTabSz="960120" rtl="0" eaLnBrk="1" latinLnBrk="0" hangingPunct="1">
        <a:defRPr sz="1890" kern="1200">
          <a:solidFill>
            <a:schemeClr val="tx1"/>
          </a:solidFill>
          <a:latin typeface="+mn-lt"/>
          <a:ea typeface="+mn-ea"/>
          <a:cs typeface="+mn-cs"/>
        </a:defRPr>
      </a:lvl1pPr>
      <a:lvl2pPr marL="480060" algn="l" defTabSz="960120" rtl="0" eaLnBrk="1" latinLnBrk="0" hangingPunct="1">
        <a:defRPr sz="1890" kern="1200">
          <a:solidFill>
            <a:schemeClr val="tx1"/>
          </a:solidFill>
          <a:latin typeface="+mn-lt"/>
          <a:ea typeface="+mn-ea"/>
          <a:cs typeface="+mn-cs"/>
        </a:defRPr>
      </a:lvl2pPr>
      <a:lvl3pPr marL="960120" algn="l" defTabSz="960120" rtl="0" eaLnBrk="1" latinLnBrk="0" hangingPunct="1">
        <a:defRPr sz="1890" kern="1200">
          <a:solidFill>
            <a:schemeClr val="tx1"/>
          </a:solidFill>
          <a:latin typeface="+mn-lt"/>
          <a:ea typeface="+mn-ea"/>
          <a:cs typeface="+mn-cs"/>
        </a:defRPr>
      </a:lvl3pPr>
      <a:lvl4pPr marL="1440180" algn="l" defTabSz="960120" rtl="0" eaLnBrk="1" latinLnBrk="0" hangingPunct="1">
        <a:defRPr sz="1890" kern="1200">
          <a:solidFill>
            <a:schemeClr val="tx1"/>
          </a:solidFill>
          <a:latin typeface="+mn-lt"/>
          <a:ea typeface="+mn-ea"/>
          <a:cs typeface="+mn-cs"/>
        </a:defRPr>
      </a:lvl4pPr>
      <a:lvl5pPr marL="1920240" algn="l" defTabSz="960120" rtl="0" eaLnBrk="1" latinLnBrk="0" hangingPunct="1">
        <a:defRPr sz="1890" kern="1200">
          <a:solidFill>
            <a:schemeClr val="tx1"/>
          </a:solidFill>
          <a:latin typeface="+mn-lt"/>
          <a:ea typeface="+mn-ea"/>
          <a:cs typeface="+mn-cs"/>
        </a:defRPr>
      </a:lvl5pPr>
      <a:lvl6pPr marL="2400300" algn="l" defTabSz="960120" rtl="0" eaLnBrk="1" latinLnBrk="0" hangingPunct="1">
        <a:defRPr sz="1890" kern="1200">
          <a:solidFill>
            <a:schemeClr val="tx1"/>
          </a:solidFill>
          <a:latin typeface="+mn-lt"/>
          <a:ea typeface="+mn-ea"/>
          <a:cs typeface="+mn-cs"/>
        </a:defRPr>
      </a:lvl6pPr>
      <a:lvl7pPr marL="2880360" algn="l" defTabSz="960120" rtl="0" eaLnBrk="1" latinLnBrk="0" hangingPunct="1">
        <a:defRPr sz="1890" kern="1200">
          <a:solidFill>
            <a:schemeClr val="tx1"/>
          </a:solidFill>
          <a:latin typeface="+mn-lt"/>
          <a:ea typeface="+mn-ea"/>
          <a:cs typeface="+mn-cs"/>
        </a:defRPr>
      </a:lvl7pPr>
      <a:lvl8pPr marL="3360420" algn="l" defTabSz="960120" rtl="0" eaLnBrk="1" latinLnBrk="0" hangingPunct="1">
        <a:defRPr sz="1890" kern="1200">
          <a:solidFill>
            <a:schemeClr val="tx1"/>
          </a:solidFill>
          <a:latin typeface="+mn-lt"/>
          <a:ea typeface="+mn-ea"/>
          <a:cs typeface="+mn-cs"/>
        </a:defRPr>
      </a:lvl8pPr>
      <a:lvl9pPr marL="3840480" algn="l" defTabSz="960120" rtl="0" eaLnBrk="1" latinLnBrk="0" hangingPunct="1">
        <a:defRPr sz="189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keylopes/alem-da-surdez-ebook" TargetMode="External"/><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UNDO_TITULO">
            <a:extLst>
              <a:ext uri="{FF2B5EF4-FFF2-40B4-BE49-F238E27FC236}">
                <a16:creationId xmlns:a16="http://schemas.microsoft.com/office/drawing/2014/main" xmlns="" id="{9CC458AC-3E5B-0690-800F-9C5663057938}"/>
              </a:ext>
            </a:extLst>
          </p:cNvPr>
          <p:cNvSpPr/>
          <p:nvPr/>
        </p:nvSpPr>
        <p:spPr>
          <a:xfrm>
            <a:off x="0" y="476935"/>
            <a:ext cx="9601200" cy="647015"/>
          </a:xfrm>
          <a:prstGeom prst="rect">
            <a:avLst/>
          </a:prstGeom>
          <a:solidFill>
            <a:srgbClr val="E322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tângulo 5">
            <a:extLst>
              <a:ext uri="{FF2B5EF4-FFF2-40B4-BE49-F238E27FC236}">
                <a16:creationId xmlns:a16="http://schemas.microsoft.com/office/drawing/2014/main" xmlns="" id="{C6A108B0-A097-16D3-8491-33F18F3C2E88}"/>
              </a:ext>
            </a:extLst>
          </p:cNvPr>
          <p:cNvSpPr/>
          <p:nvPr/>
        </p:nvSpPr>
        <p:spPr>
          <a:xfrm>
            <a:off x="0" y="0"/>
            <a:ext cx="9601200" cy="12801600"/>
          </a:xfrm>
          <a:prstGeom prst="rect">
            <a:avLst/>
          </a:prstGeom>
          <a:solidFill>
            <a:srgbClr val="81C7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Imagem 4" descr="Uma imagem contendo Logotipo&#10;&#10;Descrição gerada automaticamente">
            <a:extLst>
              <a:ext uri="{FF2B5EF4-FFF2-40B4-BE49-F238E27FC236}">
                <a16:creationId xmlns:a16="http://schemas.microsoft.com/office/drawing/2014/main" xmlns="" id="{68BBF14C-7B1F-55A6-4CA3-4EB72D2749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00200"/>
            <a:ext cx="9601200" cy="9601200"/>
          </a:xfrm>
          <a:prstGeom prst="rect">
            <a:avLst/>
          </a:prstGeom>
        </p:spPr>
      </p:pic>
      <p:sp>
        <p:nvSpPr>
          <p:cNvPr id="7" name="Titulo">
            <a:extLst>
              <a:ext uri="{FF2B5EF4-FFF2-40B4-BE49-F238E27FC236}">
                <a16:creationId xmlns:a16="http://schemas.microsoft.com/office/drawing/2014/main" xmlns="" id="{21E3C9CE-6F91-902F-D766-515A1588D435}"/>
              </a:ext>
            </a:extLst>
          </p:cNvPr>
          <p:cNvSpPr txBox="1"/>
          <p:nvPr/>
        </p:nvSpPr>
        <p:spPr>
          <a:xfrm>
            <a:off x="0" y="495985"/>
            <a:ext cx="9601200" cy="1200329"/>
          </a:xfrm>
          <a:prstGeom prst="rect">
            <a:avLst/>
          </a:prstGeom>
          <a:solidFill>
            <a:srgbClr val="E3226C"/>
          </a:solidFill>
        </p:spPr>
        <p:txBody>
          <a:bodyPr wrap="square" rtlCol="0">
            <a:spAutoFit/>
          </a:bodyPr>
          <a:lstStyle/>
          <a:p>
            <a:pPr algn="ctr"/>
            <a:r>
              <a:rPr lang="pt-BR" sz="3600" dirty="0">
                <a:solidFill>
                  <a:schemeClr val="bg1"/>
                </a:solidFill>
                <a:latin typeface="Impact" panose="020B0806030902050204" pitchFamily="34" charset="0"/>
              </a:rPr>
              <a:t>Além da Surdez: Vencendo Desafios no </a:t>
            </a:r>
            <a:r>
              <a:rPr lang="pt-BR" sz="3600" dirty="0" smtClean="0">
                <a:solidFill>
                  <a:schemeClr val="bg1"/>
                </a:solidFill>
                <a:latin typeface="Impact" panose="020B0806030902050204" pitchFamily="34" charset="0"/>
              </a:rPr>
              <a:t>Mercado de Trabalho</a:t>
            </a:r>
            <a:endParaRPr lang="pt-BR" sz="3600" dirty="0">
              <a:solidFill>
                <a:schemeClr val="bg1"/>
              </a:solidFill>
              <a:latin typeface="Impact" panose="020B0806030902050204" pitchFamily="34" charset="0"/>
            </a:endParaRPr>
          </a:p>
        </p:txBody>
      </p:sp>
      <p:sp>
        <p:nvSpPr>
          <p:cNvPr id="9" name="Titulo">
            <a:extLst>
              <a:ext uri="{FF2B5EF4-FFF2-40B4-BE49-F238E27FC236}">
                <a16:creationId xmlns:a16="http://schemas.microsoft.com/office/drawing/2014/main" xmlns="" id="{F616FC52-8619-AEA8-3FEF-32C3E418274C}"/>
              </a:ext>
            </a:extLst>
          </p:cNvPr>
          <p:cNvSpPr txBox="1"/>
          <p:nvPr/>
        </p:nvSpPr>
        <p:spPr>
          <a:xfrm>
            <a:off x="5943600" y="11487923"/>
            <a:ext cx="3657600" cy="646331"/>
          </a:xfrm>
          <a:prstGeom prst="rect">
            <a:avLst/>
          </a:prstGeom>
          <a:solidFill>
            <a:srgbClr val="E3226C"/>
          </a:solidFill>
        </p:spPr>
        <p:txBody>
          <a:bodyPr wrap="square" rtlCol="0">
            <a:spAutoFit/>
          </a:bodyPr>
          <a:lstStyle/>
          <a:p>
            <a:pPr algn="ctr"/>
            <a:r>
              <a:rPr lang="pt-BR" sz="3600" dirty="0">
                <a:solidFill>
                  <a:schemeClr val="bg1"/>
                </a:solidFill>
                <a:latin typeface="Impact" panose="020B0806030902050204" pitchFamily="34" charset="0"/>
              </a:rPr>
              <a:t>Keylla Silva Lopes</a:t>
            </a:r>
          </a:p>
        </p:txBody>
      </p:sp>
    </p:spTree>
    <p:extLst>
      <p:ext uri="{BB962C8B-B14F-4D97-AF65-F5344CB8AC3E}">
        <p14:creationId xmlns:p14="http://schemas.microsoft.com/office/powerpoint/2010/main" val="240154793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ulo_componente"/>
          <p:cNvSpPr txBox="1"/>
          <p:nvPr/>
        </p:nvSpPr>
        <p:spPr>
          <a:xfrm>
            <a:off x="220133" y="220133"/>
            <a:ext cx="9194800" cy="1323439"/>
          </a:xfrm>
          <a:prstGeom prst="rect">
            <a:avLst/>
          </a:prstGeom>
          <a:noFill/>
        </p:spPr>
        <p:txBody>
          <a:bodyPr wrap="square" rtlCol="0">
            <a:spAutoFit/>
          </a:bodyPr>
          <a:lstStyle/>
          <a:p>
            <a:pPr algn="ctr"/>
            <a:r>
              <a:rPr lang="pt-BR" sz="4000" b="1" dirty="0">
                <a:latin typeface="Impact" panose="020B0806030902050204" pitchFamily="34" charset="0"/>
                <a:ea typeface="Calibri" panose="020F0502020204030204" pitchFamily="34" charset="0"/>
                <a:cs typeface="Calibri" panose="020F0502020204030204" pitchFamily="34" charset="0"/>
              </a:rPr>
              <a:t>Além da Surdez: Vencendo Desafios no </a:t>
            </a:r>
            <a:r>
              <a:rPr lang="pt-BR" sz="4000" b="1" dirty="0" smtClean="0">
                <a:latin typeface="Impact" panose="020B0806030902050204" pitchFamily="34" charset="0"/>
                <a:ea typeface="Calibri" panose="020F0502020204030204" pitchFamily="34" charset="0"/>
                <a:cs typeface="Calibri" panose="020F0502020204030204" pitchFamily="34" charset="0"/>
              </a:rPr>
              <a:t>Mercado de Trabalho</a:t>
            </a:r>
            <a:endParaRPr lang="pt-BR" sz="4000" b="1" dirty="0">
              <a:latin typeface="Impact" panose="020B0806030902050204" pitchFamily="34" charset="0"/>
              <a:ea typeface="Calibri" panose="020F0502020204030204" pitchFamily="34" charset="0"/>
              <a:cs typeface="Calibri" panose="020F0502020204030204" pitchFamily="34" charset="0"/>
            </a:endParaRPr>
          </a:p>
        </p:txBody>
      </p:sp>
      <p:sp>
        <p:nvSpPr>
          <p:cNvPr id="4" name="texto_componente"/>
          <p:cNvSpPr txBox="1"/>
          <p:nvPr/>
        </p:nvSpPr>
        <p:spPr>
          <a:xfrm>
            <a:off x="502024" y="2294964"/>
            <a:ext cx="8641976" cy="8956298"/>
          </a:xfrm>
          <a:prstGeom prst="rect">
            <a:avLst/>
          </a:prstGeom>
          <a:noFill/>
        </p:spPr>
        <p:txBody>
          <a:bodyPr wrap="square" rtlCol="0">
            <a:spAutoFit/>
          </a:bodyPr>
          <a:lstStyle/>
          <a:p>
            <a:pPr algn="just"/>
            <a:r>
              <a:rPr lang="pt-BR" sz="2400" dirty="0">
                <a:latin typeface="Calibri" panose="020F0502020204030204" pitchFamily="34" charset="0"/>
                <a:ea typeface="Calibri" panose="020F0502020204030204" pitchFamily="34" charset="0"/>
                <a:cs typeface="Calibri" panose="020F0502020204030204" pitchFamily="34" charset="0"/>
              </a:rPr>
              <a:t>O mercado de trabalho pode ser um desafio para qualquer pessoa, mas para quem enfrenta a deficiência auditiva, as barreiras podem parecer ainda maiores. Porém, o que muitos não percebem é que essas dificuldades, longe de serem obstáculos intransponíveis, podem se transformar em poderosas fontes de superação e aprendizado</a:t>
            </a:r>
            <a:r>
              <a:rPr lang="pt-BR" sz="2400" dirty="0" smtClean="0">
                <a:latin typeface="Calibri" panose="020F0502020204030204" pitchFamily="34" charset="0"/>
                <a:ea typeface="Calibri" panose="020F0502020204030204" pitchFamily="34" charset="0"/>
                <a:cs typeface="Calibri" panose="020F0502020204030204" pitchFamily="34" charset="0"/>
              </a:rPr>
              <a:t>.</a:t>
            </a:r>
          </a:p>
          <a:p>
            <a:pPr algn="just"/>
            <a:endParaRPr lang="pt-BR" sz="2400" dirty="0">
              <a:latin typeface="Calibri" panose="020F0502020204030204" pitchFamily="34" charset="0"/>
              <a:ea typeface="Calibri" panose="020F0502020204030204" pitchFamily="34" charset="0"/>
              <a:cs typeface="Calibri" panose="020F0502020204030204" pitchFamily="34" charset="0"/>
            </a:endParaRPr>
          </a:p>
          <a:p>
            <a:pPr algn="just"/>
            <a:r>
              <a:rPr lang="pt-BR" sz="2400" dirty="0">
                <a:latin typeface="Calibri" panose="020F0502020204030204" pitchFamily="34" charset="0"/>
                <a:ea typeface="Calibri" panose="020F0502020204030204" pitchFamily="34" charset="0"/>
                <a:cs typeface="Calibri" panose="020F0502020204030204" pitchFamily="34" charset="0"/>
              </a:rPr>
              <a:t>Este e-book foi criado para mostrar que, embora a surdez possa apresentar desafios únicos no ambiente de trabalho, ela não é um impedimento para o sucesso</a:t>
            </a:r>
            <a:r>
              <a:rPr lang="pt-BR" sz="2400" dirty="0" smtClean="0">
                <a:latin typeface="Calibri" panose="020F0502020204030204" pitchFamily="34" charset="0"/>
                <a:ea typeface="Calibri" panose="020F0502020204030204" pitchFamily="34" charset="0"/>
                <a:cs typeface="Calibri" panose="020F0502020204030204" pitchFamily="34" charset="0"/>
              </a:rPr>
              <a:t>.</a:t>
            </a:r>
          </a:p>
          <a:p>
            <a:pPr algn="just"/>
            <a:endParaRPr lang="pt-BR" sz="2400" dirty="0">
              <a:latin typeface="Calibri" panose="020F0502020204030204" pitchFamily="34" charset="0"/>
              <a:ea typeface="Calibri" panose="020F0502020204030204" pitchFamily="34" charset="0"/>
              <a:cs typeface="Calibri" panose="020F0502020204030204" pitchFamily="34" charset="0"/>
            </a:endParaRPr>
          </a:p>
          <a:p>
            <a:pPr algn="just"/>
            <a:r>
              <a:rPr lang="pt-BR" sz="2400" dirty="0">
                <a:latin typeface="Calibri" panose="020F0502020204030204" pitchFamily="34" charset="0"/>
                <a:ea typeface="Calibri" panose="020F0502020204030204" pitchFamily="34" charset="0"/>
                <a:cs typeface="Calibri" panose="020F0502020204030204" pitchFamily="34" charset="0"/>
              </a:rPr>
              <a:t>Baseado em princípios de resiliência e perseverança, este material visa inspirar e orientar profissionais surdos a superarem as barreiras e conquistarem seu espaço no mercado de trabalho. A jornada de superação é longa, mas ela começa com a decisão de não deixar que nada defina suas limitações</a:t>
            </a:r>
            <a:r>
              <a:rPr lang="pt-BR" sz="2400" dirty="0" smtClean="0">
                <a:latin typeface="Calibri" panose="020F0502020204030204" pitchFamily="34" charset="0"/>
                <a:ea typeface="Calibri" panose="020F0502020204030204" pitchFamily="34" charset="0"/>
                <a:cs typeface="Calibri" panose="020F0502020204030204" pitchFamily="34" charset="0"/>
              </a:rPr>
              <a:t>.</a:t>
            </a:r>
          </a:p>
          <a:p>
            <a:pPr algn="just"/>
            <a:endParaRPr lang="pt-BR" sz="2400" dirty="0">
              <a:latin typeface="Calibri" panose="020F0502020204030204" pitchFamily="34" charset="0"/>
              <a:ea typeface="Calibri" panose="020F0502020204030204" pitchFamily="34" charset="0"/>
              <a:cs typeface="Calibri" panose="020F0502020204030204" pitchFamily="34" charset="0"/>
            </a:endParaRPr>
          </a:p>
          <a:p>
            <a:pPr algn="just"/>
            <a:r>
              <a:rPr lang="pt-BR" sz="2400" dirty="0">
                <a:latin typeface="Calibri" panose="020F0502020204030204" pitchFamily="34" charset="0"/>
                <a:ea typeface="Calibri" panose="020F0502020204030204" pitchFamily="34" charset="0"/>
                <a:cs typeface="Calibri" panose="020F0502020204030204" pitchFamily="34" charset="0"/>
              </a:rPr>
              <a:t>Ao longo deste e-book, você encontrará exemplos de superação, citações de filósofos que nos ensinam sobre a força interior e dicas práticas para lidar com as dificuldades do dia a dia no ambiente corporativo. Acredite: você pode conquistar o mercado de trabalho, "além da surdez</a:t>
            </a:r>
            <a:r>
              <a:rPr lang="pt-BR" sz="2400" dirty="0" smtClean="0">
                <a:latin typeface="Calibri" panose="020F0502020204030204" pitchFamily="34" charset="0"/>
                <a:ea typeface="Calibri" panose="020F0502020204030204" pitchFamily="34" charset="0"/>
                <a:cs typeface="Calibri" panose="020F0502020204030204" pitchFamily="34" charset="0"/>
              </a:rPr>
              <a:t>.“</a:t>
            </a:r>
          </a:p>
          <a:p>
            <a:pPr algn="just"/>
            <a:endParaRPr lang="pt-BR" sz="2400" dirty="0">
              <a:latin typeface="Calibri" panose="020F0502020204030204" pitchFamily="34" charset="0"/>
              <a:ea typeface="Calibri" panose="020F0502020204030204" pitchFamily="34" charset="0"/>
              <a:cs typeface="Calibri" panose="020F0502020204030204" pitchFamily="34" charset="0"/>
            </a:endParaRPr>
          </a:p>
          <a:p>
            <a:pPr algn="just"/>
            <a:r>
              <a:rPr lang="pt-BR" sz="2400" dirty="0">
                <a:latin typeface="Calibri" panose="020F0502020204030204" pitchFamily="34" charset="0"/>
                <a:ea typeface="Calibri" panose="020F0502020204030204" pitchFamily="34" charset="0"/>
                <a:cs typeface="Calibri" panose="020F0502020204030204" pitchFamily="34" charset="0"/>
              </a:rPr>
              <a:t>Vamos juntos nessa jornada de superação e sucesso!</a:t>
            </a:r>
          </a:p>
        </p:txBody>
      </p:sp>
      <p:sp>
        <p:nvSpPr>
          <p:cNvPr id="5" name="Espaço Reservado para Rodapé 4"/>
          <p:cNvSpPr>
            <a:spLocks noGrp="1"/>
          </p:cNvSpPr>
          <p:nvPr>
            <p:ph type="ftr" sz="quarter" idx="11"/>
          </p:nvPr>
        </p:nvSpPr>
        <p:spPr/>
        <p:txBody>
          <a:bodyPr/>
          <a:lstStyle/>
          <a:p>
            <a:r>
              <a:rPr lang="pt-BR" dirty="0" smtClean="0">
                <a:latin typeface="Impact" panose="020B0806030902050204" pitchFamily="34" charset="0"/>
              </a:rPr>
              <a:t>Além da Surdez: Vencendo Desafios no Mercado de Trabalho - Keylla Silva Lopes</a:t>
            </a:r>
            <a:endParaRPr lang="pt-BR" dirty="0">
              <a:latin typeface="Impact" panose="020B0806030902050204" pitchFamily="34" charset="0"/>
            </a:endParaRPr>
          </a:p>
        </p:txBody>
      </p:sp>
      <p:sp>
        <p:nvSpPr>
          <p:cNvPr id="6" name="Espaço Reservado para Número de Slide 5"/>
          <p:cNvSpPr>
            <a:spLocks noGrp="1"/>
          </p:cNvSpPr>
          <p:nvPr>
            <p:ph type="sldNum" sz="quarter" idx="12"/>
          </p:nvPr>
        </p:nvSpPr>
        <p:spPr/>
        <p:txBody>
          <a:bodyPr/>
          <a:lstStyle/>
          <a:p>
            <a:fld id="{A1070A76-9721-4EC6-9400-468C99D088FF}" type="slidenum">
              <a:rPr lang="pt-BR" smtClean="0"/>
              <a:t>2</a:t>
            </a:fld>
            <a:endParaRPr lang="pt-BR" dirty="0"/>
          </a:p>
        </p:txBody>
      </p:sp>
    </p:spTree>
    <p:extLst>
      <p:ext uri="{BB962C8B-B14F-4D97-AF65-F5344CB8AC3E}">
        <p14:creationId xmlns:p14="http://schemas.microsoft.com/office/powerpoint/2010/main" val="304254961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0" y="0"/>
            <a:ext cx="9601200" cy="12801600"/>
          </a:xfrm>
          <a:prstGeom prst="rect">
            <a:avLst/>
          </a:prstGeom>
          <a:solidFill>
            <a:srgbClr val="194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titulo_componente"/>
          <p:cNvSpPr txBox="1"/>
          <p:nvPr/>
        </p:nvSpPr>
        <p:spPr>
          <a:xfrm>
            <a:off x="203200" y="7817223"/>
            <a:ext cx="9194800" cy="707886"/>
          </a:xfrm>
          <a:prstGeom prst="rect">
            <a:avLst/>
          </a:prstGeom>
          <a:noFill/>
        </p:spPr>
        <p:txBody>
          <a:bodyPr wrap="square" rtlCol="0">
            <a:spAutoFit/>
          </a:bodyPr>
          <a:lstStyle/>
          <a:p>
            <a:pPr algn="ctr"/>
            <a:r>
              <a:rPr lang="pt-BR" sz="4000" b="1" dirty="0">
                <a:solidFill>
                  <a:schemeClr val="bg1"/>
                </a:solidFill>
                <a:latin typeface="Impact" panose="020B0806030902050204" pitchFamily="34" charset="0"/>
                <a:ea typeface="Calibri" panose="020F0502020204030204" pitchFamily="34" charset="0"/>
                <a:cs typeface="Calibri" panose="020F0502020204030204" pitchFamily="34" charset="0"/>
              </a:rPr>
              <a:t>O Poder da Determinação</a:t>
            </a:r>
          </a:p>
        </p:txBody>
      </p:sp>
      <p:sp>
        <p:nvSpPr>
          <p:cNvPr id="4" name="titulo_componente"/>
          <p:cNvSpPr txBox="1"/>
          <p:nvPr/>
        </p:nvSpPr>
        <p:spPr>
          <a:xfrm>
            <a:off x="203200" y="707886"/>
            <a:ext cx="9194800" cy="5386090"/>
          </a:xfrm>
          <a:prstGeom prst="rect">
            <a:avLst/>
          </a:prstGeom>
          <a:noFill/>
        </p:spPr>
        <p:txBody>
          <a:bodyPr wrap="square" rtlCol="0">
            <a:spAutoFit/>
          </a:bodyPr>
          <a:lstStyle/>
          <a:p>
            <a:pPr algn="ctr"/>
            <a:r>
              <a:rPr lang="pt-BR" sz="34400" b="1" dirty="0" smtClean="0">
                <a:ln>
                  <a:solidFill>
                    <a:schemeClr val="bg1"/>
                  </a:solidFill>
                </a:ln>
                <a:noFill/>
                <a:latin typeface="Impact" panose="020B0806030902050204" pitchFamily="34" charset="0"/>
                <a:ea typeface="Calibri" panose="020F0502020204030204" pitchFamily="34" charset="0"/>
                <a:cs typeface="Calibri" panose="020F0502020204030204" pitchFamily="34" charset="0"/>
              </a:rPr>
              <a:t>01</a:t>
            </a:r>
            <a:endParaRPr lang="pt-BR" sz="34400" b="1" dirty="0">
              <a:ln>
                <a:solidFill>
                  <a:schemeClr val="bg1"/>
                </a:solidFill>
              </a:ln>
              <a:noFill/>
              <a:latin typeface="Impact" panose="020B0806030902050204" pitchFamily="34" charset="0"/>
              <a:ea typeface="Calibri" panose="020F0502020204030204" pitchFamily="34" charset="0"/>
              <a:cs typeface="Calibri" panose="020F0502020204030204" pitchFamily="34" charset="0"/>
            </a:endParaRPr>
          </a:p>
        </p:txBody>
      </p:sp>
      <p:sp>
        <p:nvSpPr>
          <p:cNvPr id="5" name="Retângulo 4"/>
          <p:cNvSpPr/>
          <p:nvPr/>
        </p:nvSpPr>
        <p:spPr>
          <a:xfrm>
            <a:off x="1864659" y="10040471"/>
            <a:ext cx="6562165" cy="143435"/>
          </a:xfrm>
          <a:prstGeom prst="rect">
            <a:avLst/>
          </a:prstGeom>
          <a:solidFill>
            <a:srgbClr val="D60093"/>
          </a:solidFill>
          <a:ln>
            <a:no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Espaço Reservado para Rodapé 6"/>
          <p:cNvSpPr>
            <a:spLocks noGrp="1"/>
          </p:cNvSpPr>
          <p:nvPr>
            <p:ph type="ftr" sz="quarter" idx="11"/>
          </p:nvPr>
        </p:nvSpPr>
        <p:spPr/>
        <p:txBody>
          <a:bodyPr/>
          <a:lstStyle/>
          <a:p>
            <a:r>
              <a:rPr lang="pt-BR" smtClean="0">
                <a:latin typeface="Impact" panose="020B0806030902050204" pitchFamily="34" charset="0"/>
              </a:rPr>
              <a:t>Além da Surdez: Vencendo Desafios no Mercado de Trabalho - Keylla Silva Lopes</a:t>
            </a:r>
            <a:endParaRPr lang="pt-BR" dirty="0">
              <a:latin typeface="Impact" panose="020B0806030902050204" pitchFamily="34" charset="0"/>
            </a:endParaRPr>
          </a:p>
        </p:txBody>
      </p:sp>
      <p:sp>
        <p:nvSpPr>
          <p:cNvPr id="8" name="Espaço Reservado para Número de Slide 7"/>
          <p:cNvSpPr>
            <a:spLocks noGrp="1"/>
          </p:cNvSpPr>
          <p:nvPr>
            <p:ph type="sldNum" sz="quarter" idx="12"/>
          </p:nvPr>
        </p:nvSpPr>
        <p:spPr/>
        <p:txBody>
          <a:bodyPr/>
          <a:lstStyle/>
          <a:p>
            <a:fld id="{A1070A76-9721-4EC6-9400-468C99D088FF}" type="slidenum">
              <a:rPr lang="pt-BR" smtClean="0"/>
              <a:t>3</a:t>
            </a:fld>
            <a:endParaRPr lang="pt-BR"/>
          </a:p>
        </p:txBody>
      </p:sp>
    </p:spTree>
    <p:extLst>
      <p:ext uri="{BB962C8B-B14F-4D97-AF65-F5344CB8AC3E}">
        <p14:creationId xmlns:p14="http://schemas.microsoft.com/office/powerpoint/2010/main" val="2208244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ulo_componente"/>
          <p:cNvSpPr txBox="1"/>
          <p:nvPr/>
        </p:nvSpPr>
        <p:spPr>
          <a:xfrm>
            <a:off x="406400" y="1424905"/>
            <a:ext cx="8701740" cy="707886"/>
          </a:xfrm>
          <a:prstGeom prst="rect">
            <a:avLst/>
          </a:prstGeom>
          <a:noFill/>
        </p:spPr>
        <p:txBody>
          <a:bodyPr wrap="square" rtlCol="0">
            <a:spAutoFit/>
          </a:bodyPr>
          <a:lstStyle/>
          <a:p>
            <a:r>
              <a:rPr lang="pt-BR" sz="4000" b="1" dirty="0" smtClean="0">
                <a:latin typeface="Impact" panose="020B0806030902050204" pitchFamily="34" charset="0"/>
                <a:ea typeface="Calibri" panose="020F0502020204030204" pitchFamily="34" charset="0"/>
                <a:cs typeface="Calibri" panose="020F0502020204030204" pitchFamily="34" charset="0"/>
              </a:rPr>
              <a:t>O poder da determinação</a:t>
            </a:r>
            <a:endParaRPr lang="pt-BR" sz="4000" b="1" dirty="0">
              <a:latin typeface="Impact" panose="020B0806030902050204" pitchFamily="34" charset="0"/>
              <a:ea typeface="Calibri" panose="020F0502020204030204" pitchFamily="34" charset="0"/>
              <a:cs typeface="Calibri" panose="020F0502020204030204" pitchFamily="34" charset="0"/>
            </a:endParaRPr>
          </a:p>
        </p:txBody>
      </p:sp>
      <p:sp>
        <p:nvSpPr>
          <p:cNvPr id="3" name="subtitulo_componente"/>
          <p:cNvSpPr txBox="1"/>
          <p:nvPr/>
        </p:nvSpPr>
        <p:spPr>
          <a:xfrm>
            <a:off x="406399" y="2629702"/>
            <a:ext cx="8701741" cy="6986528"/>
          </a:xfrm>
          <a:prstGeom prst="rect">
            <a:avLst/>
          </a:prstGeom>
          <a:noFill/>
        </p:spPr>
        <p:txBody>
          <a:bodyPr wrap="square" rtlCol="0">
            <a:spAutoFit/>
          </a:bodyPr>
          <a:lstStyle/>
          <a:p>
            <a:pPr algn="just"/>
            <a:r>
              <a:rPr lang="pt-BR" sz="3200" dirty="0">
                <a:latin typeface="Calibri Light" panose="020F0302020204030204" pitchFamily="34" charset="0"/>
                <a:ea typeface="Calibri Light" panose="020F0302020204030204" pitchFamily="34" charset="0"/>
                <a:cs typeface="Calibri Light" panose="020F0302020204030204" pitchFamily="34" charset="0"/>
              </a:rPr>
              <a:t>A jornada de superação para um deficiente auditivo no ambiente de trabalho começa com uma simples, mas poderosa atitude: a determinação. Aristóteles dizia: "A excelência é um hábito, não um ato." Isso significa que, independentemente das dificuldades, o deficiente auditivo pode cultivar, todos os dias, a excelência através da persistência</a:t>
            </a:r>
            <a:r>
              <a:rPr lang="pt-BR" sz="3200" dirty="0" smtClean="0">
                <a:latin typeface="Calibri Light" panose="020F0302020204030204" pitchFamily="34" charset="0"/>
                <a:ea typeface="Calibri Light" panose="020F0302020204030204" pitchFamily="34" charset="0"/>
                <a:cs typeface="Calibri Light" panose="020F0302020204030204" pitchFamily="34" charset="0"/>
              </a:rPr>
              <a:t>.</a:t>
            </a:r>
          </a:p>
          <a:p>
            <a:pPr algn="just"/>
            <a:endParaRPr lang="pt-BR" sz="3200" dirty="0">
              <a:latin typeface="Calibri Light" panose="020F0302020204030204" pitchFamily="34" charset="0"/>
              <a:ea typeface="Calibri Light" panose="020F0302020204030204" pitchFamily="34" charset="0"/>
              <a:cs typeface="Calibri Light" panose="020F0302020204030204" pitchFamily="34" charset="0"/>
            </a:endParaRPr>
          </a:p>
          <a:p>
            <a:pPr algn="just"/>
            <a:r>
              <a:rPr lang="pt-BR" sz="3200" dirty="0" smtClean="0">
                <a:latin typeface="Calibri Light" panose="020F0302020204030204" pitchFamily="34" charset="0"/>
                <a:ea typeface="Calibri Light" panose="020F0302020204030204" pitchFamily="34" charset="0"/>
                <a:cs typeface="Calibri Light" panose="020F0302020204030204" pitchFamily="34" charset="0"/>
              </a:rPr>
              <a:t>Superar </a:t>
            </a:r>
            <a:r>
              <a:rPr lang="pt-BR" sz="3200" dirty="0">
                <a:latin typeface="Calibri Light" panose="020F0302020204030204" pitchFamily="34" charset="0"/>
                <a:ea typeface="Calibri Light" panose="020F0302020204030204" pitchFamily="34" charset="0"/>
                <a:cs typeface="Calibri Light" panose="020F0302020204030204" pitchFamily="34" charset="0"/>
              </a:rPr>
              <a:t>barreiras não é uma tarefa fácil, mas com o </a:t>
            </a:r>
            <a:r>
              <a:rPr lang="pt-BR" sz="3200" dirty="0" err="1">
                <a:latin typeface="Calibri Light" panose="020F0302020204030204" pitchFamily="34" charset="0"/>
                <a:ea typeface="Calibri Light" panose="020F0302020204030204" pitchFamily="34" charset="0"/>
                <a:cs typeface="Calibri Light" panose="020F0302020204030204" pitchFamily="34" charset="0"/>
              </a:rPr>
              <a:t>mindset</a:t>
            </a:r>
            <a:r>
              <a:rPr lang="pt-BR" sz="3200" dirty="0">
                <a:latin typeface="Calibri Light" panose="020F0302020204030204" pitchFamily="34" charset="0"/>
                <a:ea typeface="Calibri Light" panose="020F0302020204030204" pitchFamily="34" charset="0"/>
                <a:cs typeface="Calibri Light" panose="020F0302020204030204" pitchFamily="34" charset="0"/>
              </a:rPr>
              <a:t> correto, é possível transformar qualquer desafio em uma oportunidade. Ao entrar no ambiente de trabalho, é fundamental acreditar que as limitações da audição não definem o potencial de uma pessoa.</a:t>
            </a:r>
          </a:p>
        </p:txBody>
      </p:sp>
      <p:sp>
        <p:nvSpPr>
          <p:cNvPr id="5" name="Retângulo 4"/>
          <p:cNvSpPr/>
          <p:nvPr/>
        </p:nvSpPr>
        <p:spPr>
          <a:xfrm rot="16200000">
            <a:off x="-726143" y="1048867"/>
            <a:ext cx="1805894" cy="148417"/>
          </a:xfrm>
          <a:prstGeom prst="rect">
            <a:avLst/>
          </a:prstGeom>
          <a:solidFill>
            <a:srgbClr val="D60093"/>
          </a:solidFill>
          <a:ln>
            <a:no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spaço Reservado para Rodapé 5"/>
          <p:cNvSpPr>
            <a:spLocks noGrp="1"/>
          </p:cNvSpPr>
          <p:nvPr>
            <p:ph type="ftr" sz="quarter" idx="11"/>
          </p:nvPr>
        </p:nvSpPr>
        <p:spPr/>
        <p:txBody>
          <a:bodyPr/>
          <a:lstStyle/>
          <a:p>
            <a:r>
              <a:rPr lang="pt-BR" smtClean="0">
                <a:latin typeface="Impact" panose="020B0806030902050204" pitchFamily="34" charset="0"/>
              </a:rPr>
              <a:t>Além da Surdez: Vencendo Desafios no Mercado de Trabalho - Keylla Silva Lopes</a:t>
            </a:r>
            <a:endParaRPr lang="pt-BR" dirty="0">
              <a:latin typeface="Impact" panose="020B0806030902050204" pitchFamily="34" charset="0"/>
            </a:endParaRPr>
          </a:p>
        </p:txBody>
      </p:sp>
      <p:sp>
        <p:nvSpPr>
          <p:cNvPr id="7" name="Espaço Reservado para Número de Slide 6"/>
          <p:cNvSpPr>
            <a:spLocks noGrp="1"/>
          </p:cNvSpPr>
          <p:nvPr>
            <p:ph type="sldNum" sz="quarter" idx="12"/>
          </p:nvPr>
        </p:nvSpPr>
        <p:spPr/>
        <p:txBody>
          <a:bodyPr/>
          <a:lstStyle/>
          <a:p>
            <a:fld id="{A1070A76-9721-4EC6-9400-468C99D088FF}" type="slidenum">
              <a:rPr lang="pt-BR" smtClean="0"/>
              <a:t>4</a:t>
            </a:fld>
            <a:endParaRPr lang="pt-BR"/>
          </a:p>
        </p:txBody>
      </p:sp>
    </p:spTree>
    <p:extLst>
      <p:ext uri="{BB962C8B-B14F-4D97-AF65-F5344CB8AC3E}">
        <p14:creationId xmlns:p14="http://schemas.microsoft.com/office/powerpoint/2010/main" val="2283670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0" y="0"/>
            <a:ext cx="9601200" cy="12801600"/>
          </a:xfrm>
          <a:prstGeom prst="rect">
            <a:avLst/>
          </a:prstGeom>
          <a:solidFill>
            <a:srgbClr val="194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titulo_componente"/>
          <p:cNvSpPr txBox="1"/>
          <p:nvPr/>
        </p:nvSpPr>
        <p:spPr>
          <a:xfrm>
            <a:off x="203200" y="7817223"/>
            <a:ext cx="9194800" cy="707886"/>
          </a:xfrm>
          <a:prstGeom prst="rect">
            <a:avLst/>
          </a:prstGeom>
          <a:noFill/>
        </p:spPr>
        <p:txBody>
          <a:bodyPr wrap="square" rtlCol="0">
            <a:spAutoFit/>
          </a:bodyPr>
          <a:lstStyle/>
          <a:p>
            <a:pPr algn="ctr"/>
            <a:r>
              <a:rPr lang="pt-BR" sz="4000" b="1" dirty="0">
                <a:solidFill>
                  <a:schemeClr val="bg1"/>
                </a:solidFill>
                <a:latin typeface="Impact" panose="020B0806030902050204" pitchFamily="34" charset="0"/>
                <a:ea typeface="Calibri" panose="020F0502020204030204" pitchFamily="34" charset="0"/>
                <a:cs typeface="Calibri" panose="020F0502020204030204" pitchFamily="34" charset="0"/>
              </a:rPr>
              <a:t>Adaptando-se às Novas Realidades</a:t>
            </a:r>
          </a:p>
        </p:txBody>
      </p:sp>
      <p:sp>
        <p:nvSpPr>
          <p:cNvPr id="4" name="titulo_componente"/>
          <p:cNvSpPr txBox="1"/>
          <p:nvPr/>
        </p:nvSpPr>
        <p:spPr>
          <a:xfrm>
            <a:off x="203200" y="707886"/>
            <a:ext cx="9194800" cy="5386090"/>
          </a:xfrm>
          <a:prstGeom prst="rect">
            <a:avLst/>
          </a:prstGeom>
          <a:noFill/>
        </p:spPr>
        <p:txBody>
          <a:bodyPr wrap="square" rtlCol="0">
            <a:spAutoFit/>
          </a:bodyPr>
          <a:lstStyle/>
          <a:p>
            <a:pPr algn="ctr"/>
            <a:r>
              <a:rPr lang="pt-BR" sz="34400" b="1" dirty="0" smtClean="0">
                <a:ln>
                  <a:solidFill>
                    <a:schemeClr val="bg1"/>
                  </a:solidFill>
                </a:ln>
                <a:noFill/>
                <a:latin typeface="Impact" panose="020B0806030902050204" pitchFamily="34" charset="0"/>
                <a:ea typeface="Calibri" panose="020F0502020204030204" pitchFamily="34" charset="0"/>
                <a:cs typeface="Calibri" panose="020F0502020204030204" pitchFamily="34" charset="0"/>
              </a:rPr>
              <a:t>02</a:t>
            </a:r>
            <a:endParaRPr lang="pt-BR" sz="34400" b="1" dirty="0">
              <a:ln>
                <a:solidFill>
                  <a:schemeClr val="bg1"/>
                </a:solidFill>
              </a:ln>
              <a:noFill/>
              <a:latin typeface="Impact" panose="020B0806030902050204" pitchFamily="34" charset="0"/>
              <a:ea typeface="Calibri" panose="020F0502020204030204" pitchFamily="34" charset="0"/>
              <a:cs typeface="Calibri" panose="020F0502020204030204" pitchFamily="34" charset="0"/>
            </a:endParaRPr>
          </a:p>
        </p:txBody>
      </p:sp>
      <p:sp>
        <p:nvSpPr>
          <p:cNvPr id="5" name="Retângulo 4"/>
          <p:cNvSpPr/>
          <p:nvPr/>
        </p:nvSpPr>
        <p:spPr>
          <a:xfrm>
            <a:off x="1864659" y="10040471"/>
            <a:ext cx="6562165" cy="143435"/>
          </a:xfrm>
          <a:prstGeom prst="rect">
            <a:avLst/>
          </a:prstGeom>
          <a:solidFill>
            <a:srgbClr val="D60093"/>
          </a:solidFill>
          <a:ln>
            <a:no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spaço Reservado para Rodapé 5"/>
          <p:cNvSpPr>
            <a:spLocks noGrp="1"/>
          </p:cNvSpPr>
          <p:nvPr>
            <p:ph type="ftr" sz="quarter" idx="11"/>
          </p:nvPr>
        </p:nvSpPr>
        <p:spPr/>
        <p:txBody>
          <a:bodyPr/>
          <a:lstStyle/>
          <a:p>
            <a:r>
              <a:rPr lang="pt-BR" smtClean="0">
                <a:latin typeface="Impact" panose="020B0806030902050204" pitchFamily="34" charset="0"/>
              </a:rPr>
              <a:t>Além da Surdez: Vencendo Desafios no Mercado de Trabalho - Keylla Silva Lopes</a:t>
            </a:r>
            <a:endParaRPr lang="pt-BR" dirty="0">
              <a:latin typeface="Impact" panose="020B0806030902050204" pitchFamily="34" charset="0"/>
            </a:endParaRPr>
          </a:p>
        </p:txBody>
      </p:sp>
      <p:sp>
        <p:nvSpPr>
          <p:cNvPr id="7" name="Espaço Reservado para Número de Slide 6"/>
          <p:cNvSpPr>
            <a:spLocks noGrp="1"/>
          </p:cNvSpPr>
          <p:nvPr>
            <p:ph type="sldNum" sz="quarter" idx="12"/>
          </p:nvPr>
        </p:nvSpPr>
        <p:spPr/>
        <p:txBody>
          <a:bodyPr/>
          <a:lstStyle/>
          <a:p>
            <a:fld id="{A1070A76-9721-4EC6-9400-468C99D088FF}" type="slidenum">
              <a:rPr lang="pt-BR" smtClean="0"/>
              <a:t>5</a:t>
            </a:fld>
            <a:endParaRPr lang="pt-BR"/>
          </a:p>
        </p:txBody>
      </p:sp>
    </p:spTree>
    <p:extLst>
      <p:ext uri="{BB962C8B-B14F-4D97-AF65-F5344CB8AC3E}">
        <p14:creationId xmlns:p14="http://schemas.microsoft.com/office/powerpoint/2010/main" val="2964233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ulo_componente"/>
          <p:cNvSpPr txBox="1"/>
          <p:nvPr/>
        </p:nvSpPr>
        <p:spPr>
          <a:xfrm>
            <a:off x="406400" y="1424905"/>
            <a:ext cx="8701740" cy="707886"/>
          </a:xfrm>
          <a:prstGeom prst="rect">
            <a:avLst/>
          </a:prstGeom>
          <a:noFill/>
        </p:spPr>
        <p:txBody>
          <a:bodyPr wrap="square" rtlCol="0">
            <a:spAutoFit/>
          </a:bodyPr>
          <a:lstStyle/>
          <a:p>
            <a:r>
              <a:rPr lang="pt-BR" sz="4000" b="1" dirty="0" smtClean="0">
                <a:latin typeface="Impact" panose="020B0806030902050204" pitchFamily="34" charset="0"/>
                <a:ea typeface="Calibri" panose="020F0502020204030204" pitchFamily="34" charset="0"/>
                <a:cs typeface="Calibri" panose="020F0502020204030204" pitchFamily="34" charset="0"/>
              </a:rPr>
              <a:t>Adaptando-se às novas realidades</a:t>
            </a:r>
            <a:endParaRPr lang="pt-BR" sz="4000" b="1" dirty="0">
              <a:latin typeface="Impact" panose="020B0806030902050204" pitchFamily="34" charset="0"/>
              <a:ea typeface="Calibri" panose="020F0502020204030204" pitchFamily="34" charset="0"/>
              <a:cs typeface="Calibri" panose="020F0502020204030204" pitchFamily="34" charset="0"/>
            </a:endParaRPr>
          </a:p>
        </p:txBody>
      </p:sp>
      <p:sp>
        <p:nvSpPr>
          <p:cNvPr id="3" name="subtitulo_componente"/>
          <p:cNvSpPr txBox="1"/>
          <p:nvPr/>
        </p:nvSpPr>
        <p:spPr>
          <a:xfrm>
            <a:off x="406399" y="2629702"/>
            <a:ext cx="8701741" cy="7478970"/>
          </a:xfrm>
          <a:prstGeom prst="rect">
            <a:avLst/>
          </a:prstGeom>
          <a:noFill/>
        </p:spPr>
        <p:txBody>
          <a:bodyPr wrap="square" rtlCol="0">
            <a:spAutoFit/>
          </a:bodyPr>
          <a:lstStyle/>
          <a:p>
            <a:pPr algn="just"/>
            <a:r>
              <a:rPr lang="pt-BR" sz="3200" dirty="0">
                <a:latin typeface="Calibri Light" panose="020F0302020204030204" pitchFamily="34" charset="0"/>
                <a:ea typeface="Calibri Light" panose="020F0302020204030204" pitchFamily="34" charset="0"/>
                <a:cs typeface="Calibri Light" panose="020F0302020204030204" pitchFamily="34" charset="0"/>
              </a:rPr>
              <a:t>Cada ambiente de trabalho tem suas particularidades, mas a adaptação é a chave. Nelson Mandela afirmou: "Eu nunca perco. Ou eu ganho, ou aprendo." Ao lidar com as dificuldades da surdez, adaptar-se aos novos recursos e tecnologias disponíveis, como leitura labial, aparelhos auditivos ou softwares de transcrição, é uma forma de aprender e vencer os obstáculos</a:t>
            </a:r>
            <a:r>
              <a:rPr lang="pt-BR" sz="3200" dirty="0" smtClean="0">
                <a:latin typeface="Calibri Light" panose="020F0302020204030204" pitchFamily="34" charset="0"/>
                <a:ea typeface="Calibri Light" panose="020F0302020204030204" pitchFamily="34" charset="0"/>
                <a:cs typeface="Calibri Light" panose="020F0302020204030204" pitchFamily="34" charset="0"/>
              </a:rPr>
              <a:t>.</a:t>
            </a:r>
          </a:p>
          <a:p>
            <a:pPr algn="just"/>
            <a:endParaRPr lang="pt-BR" sz="3200" dirty="0">
              <a:latin typeface="Calibri Light" panose="020F0302020204030204" pitchFamily="34" charset="0"/>
              <a:ea typeface="Calibri Light" panose="020F0302020204030204" pitchFamily="34" charset="0"/>
              <a:cs typeface="Calibri Light" panose="020F0302020204030204" pitchFamily="34" charset="0"/>
            </a:endParaRPr>
          </a:p>
          <a:p>
            <a:pPr algn="just"/>
            <a:r>
              <a:rPr lang="pt-BR" sz="3200" dirty="0" smtClean="0">
                <a:latin typeface="Calibri Light" panose="020F0302020204030204" pitchFamily="34" charset="0"/>
                <a:ea typeface="Calibri Light" panose="020F0302020204030204" pitchFamily="34" charset="0"/>
                <a:cs typeface="Calibri Light" panose="020F0302020204030204" pitchFamily="34" charset="0"/>
              </a:rPr>
              <a:t>É </a:t>
            </a:r>
            <a:r>
              <a:rPr lang="pt-BR" sz="3200" dirty="0">
                <a:latin typeface="Calibri Light" panose="020F0302020204030204" pitchFamily="34" charset="0"/>
                <a:ea typeface="Calibri Light" panose="020F0302020204030204" pitchFamily="34" charset="0"/>
                <a:cs typeface="Calibri Light" panose="020F0302020204030204" pitchFamily="34" charset="0"/>
              </a:rPr>
              <a:t>importante que o deficiente auditivo procure identificar as ferramentas que o ajudarão a se comunicar de maneira eficiente, sem depender exclusivamente da audição. Dessa forma, as adaptações tecnológicas se tornam aliadas poderosas.</a:t>
            </a:r>
          </a:p>
        </p:txBody>
      </p:sp>
      <p:sp>
        <p:nvSpPr>
          <p:cNvPr id="5" name="Retângulo 4"/>
          <p:cNvSpPr/>
          <p:nvPr/>
        </p:nvSpPr>
        <p:spPr>
          <a:xfrm rot="16200000">
            <a:off x="-726143" y="1048867"/>
            <a:ext cx="1805894" cy="148417"/>
          </a:xfrm>
          <a:prstGeom prst="rect">
            <a:avLst/>
          </a:prstGeom>
          <a:solidFill>
            <a:srgbClr val="D60093"/>
          </a:solidFill>
          <a:ln>
            <a:no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spaço Reservado para Rodapé 5"/>
          <p:cNvSpPr>
            <a:spLocks noGrp="1"/>
          </p:cNvSpPr>
          <p:nvPr>
            <p:ph type="ftr" sz="quarter" idx="11"/>
          </p:nvPr>
        </p:nvSpPr>
        <p:spPr/>
        <p:txBody>
          <a:bodyPr/>
          <a:lstStyle/>
          <a:p>
            <a:r>
              <a:rPr lang="pt-BR" smtClean="0">
                <a:latin typeface="Impact" panose="020B0806030902050204" pitchFamily="34" charset="0"/>
              </a:rPr>
              <a:t>Além da Surdez: Vencendo Desafios no Mercado de Trabalho - Keylla Silva Lopes</a:t>
            </a:r>
            <a:endParaRPr lang="pt-BR" dirty="0">
              <a:latin typeface="Impact" panose="020B0806030902050204" pitchFamily="34" charset="0"/>
            </a:endParaRPr>
          </a:p>
        </p:txBody>
      </p:sp>
      <p:sp>
        <p:nvSpPr>
          <p:cNvPr id="7" name="Espaço Reservado para Número de Slide 6"/>
          <p:cNvSpPr>
            <a:spLocks noGrp="1"/>
          </p:cNvSpPr>
          <p:nvPr>
            <p:ph type="sldNum" sz="quarter" idx="12"/>
          </p:nvPr>
        </p:nvSpPr>
        <p:spPr/>
        <p:txBody>
          <a:bodyPr/>
          <a:lstStyle/>
          <a:p>
            <a:fld id="{A1070A76-9721-4EC6-9400-468C99D088FF}" type="slidenum">
              <a:rPr lang="pt-BR" smtClean="0"/>
              <a:t>6</a:t>
            </a:fld>
            <a:endParaRPr lang="pt-BR"/>
          </a:p>
        </p:txBody>
      </p:sp>
    </p:spTree>
    <p:extLst>
      <p:ext uri="{BB962C8B-B14F-4D97-AF65-F5344CB8AC3E}">
        <p14:creationId xmlns:p14="http://schemas.microsoft.com/office/powerpoint/2010/main" val="261161682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0" y="0"/>
            <a:ext cx="9601200" cy="12801600"/>
          </a:xfrm>
          <a:prstGeom prst="rect">
            <a:avLst/>
          </a:prstGeom>
          <a:solidFill>
            <a:srgbClr val="194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titulo_componente"/>
          <p:cNvSpPr txBox="1"/>
          <p:nvPr/>
        </p:nvSpPr>
        <p:spPr>
          <a:xfrm>
            <a:off x="203200" y="7817223"/>
            <a:ext cx="9194800" cy="707886"/>
          </a:xfrm>
          <a:prstGeom prst="rect">
            <a:avLst/>
          </a:prstGeom>
          <a:noFill/>
        </p:spPr>
        <p:txBody>
          <a:bodyPr wrap="square" rtlCol="0">
            <a:spAutoFit/>
          </a:bodyPr>
          <a:lstStyle/>
          <a:p>
            <a:pPr algn="ctr"/>
            <a:r>
              <a:rPr lang="pt-BR" sz="4000" b="1" dirty="0">
                <a:solidFill>
                  <a:schemeClr val="bg1"/>
                </a:solidFill>
                <a:latin typeface="Impact" panose="020B0806030902050204" pitchFamily="34" charset="0"/>
                <a:ea typeface="Calibri" panose="020F0502020204030204" pitchFamily="34" charset="0"/>
                <a:cs typeface="Calibri" panose="020F0502020204030204" pitchFamily="34" charset="0"/>
              </a:rPr>
              <a:t>A Inclusão Como Força</a:t>
            </a:r>
          </a:p>
        </p:txBody>
      </p:sp>
      <p:sp>
        <p:nvSpPr>
          <p:cNvPr id="4" name="titulo_componente"/>
          <p:cNvSpPr txBox="1"/>
          <p:nvPr/>
        </p:nvSpPr>
        <p:spPr>
          <a:xfrm>
            <a:off x="203200" y="707886"/>
            <a:ext cx="9194800" cy="5386090"/>
          </a:xfrm>
          <a:prstGeom prst="rect">
            <a:avLst/>
          </a:prstGeom>
          <a:noFill/>
        </p:spPr>
        <p:txBody>
          <a:bodyPr wrap="square" rtlCol="0">
            <a:spAutoFit/>
          </a:bodyPr>
          <a:lstStyle/>
          <a:p>
            <a:pPr algn="ctr"/>
            <a:r>
              <a:rPr lang="pt-BR" sz="34400" b="1" dirty="0" smtClean="0">
                <a:ln>
                  <a:solidFill>
                    <a:schemeClr val="bg1"/>
                  </a:solidFill>
                </a:ln>
                <a:noFill/>
                <a:latin typeface="Impact" panose="020B0806030902050204" pitchFamily="34" charset="0"/>
                <a:ea typeface="Calibri" panose="020F0502020204030204" pitchFamily="34" charset="0"/>
                <a:cs typeface="Calibri" panose="020F0502020204030204" pitchFamily="34" charset="0"/>
              </a:rPr>
              <a:t>03</a:t>
            </a:r>
            <a:endParaRPr lang="pt-BR" sz="34400" b="1" dirty="0">
              <a:ln>
                <a:solidFill>
                  <a:schemeClr val="bg1"/>
                </a:solidFill>
              </a:ln>
              <a:noFill/>
              <a:latin typeface="Impact" panose="020B0806030902050204" pitchFamily="34" charset="0"/>
              <a:ea typeface="Calibri" panose="020F0502020204030204" pitchFamily="34" charset="0"/>
              <a:cs typeface="Calibri" panose="020F0502020204030204" pitchFamily="34" charset="0"/>
            </a:endParaRPr>
          </a:p>
        </p:txBody>
      </p:sp>
      <p:sp>
        <p:nvSpPr>
          <p:cNvPr id="5" name="Retângulo 4"/>
          <p:cNvSpPr/>
          <p:nvPr/>
        </p:nvSpPr>
        <p:spPr>
          <a:xfrm>
            <a:off x="1864659" y="10040471"/>
            <a:ext cx="6562165" cy="143435"/>
          </a:xfrm>
          <a:prstGeom prst="rect">
            <a:avLst/>
          </a:prstGeom>
          <a:solidFill>
            <a:srgbClr val="D60093"/>
          </a:solidFill>
          <a:ln>
            <a:no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spaço Reservado para Rodapé 5"/>
          <p:cNvSpPr>
            <a:spLocks noGrp="1"/>
          </p:cNvSpPr>
          <p:nvPr>
            <p:ph type="ftr" sz="quarter" idx="11"/>
          </p:nvPr>
        </p:nvSpPr>
        <p:spPr/>
        <p:txBody>
          <a:bodyPr/>
          <a:lstStyle/>
          <a:p>
            <a:r>
              <a:rPr lang="pt-BR" smtClean="0">
                <a:latin typeface="Impact" panose="020B0806030902050204" pitchFamily="34" charset="0"/>
              </a:rPr>
              <a:t>Além da Surdez: Vencendo Desafios no Mercado de Trabalho - Keylla Silva Lopes</a:t>
            </a:r>
            <a:endParaRPr lang="pt-BR" dirty="0">
              <a:latin typeface="Impact" panose="020B0806030902050204" pitchFamily="34" charset="0"/>
            </a:endParaRPr>
          </a:p>
        </p:txBody>
      </p:sp>
      <p:sp>
        <p:nvSpPr>
          <p:cNvPr id="7" name="Espaço Reservado para Número de Slide 6"/>
          <p:cNvSpPr>
            <a:spLocks noGrp="1"/>
          </p:cNvSpPr>
          <p:nvPr>
            <p:ph type="sldNum" sz="quarter" idx="12"/>
          </p:nvPr>
        </p:nvSpPr>
        <p:spPr/>
        <p:txBody>
          <a:bodyPr/>
          <a:lstStyle/>
          <a:p>
            <a:fld id="{A1070A76-9721-4EC6-9400-468C99D088FF}" type="slidenum">
              <a:rPr lang="pt-BR" smtClean="0"/>
              <a:t>7</a:t>
            </a:fld>
            <a:endParaRPr lang="pt-BR"/>
          </a:p>
        </p:txBody>
      </p:sp>
    </p:spTree>
    <p:extLst>
      <p:ext uri="{BB962C8B-B14F-4D97-AF65-F5344CB8AC3E}">
        <p14:creationId xmlns:p14="http://schemas.microsoft.com/office/powerpoint/2010/main" val="29042610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ulo_componente"/>
          <p:cNvSpPr txBox="1"/>
          <p:nvPr/>
        </p:nvSpPr>
        <p:spPr>
          <a:xfrm>
            <a:off x="406400" y="1424905"/>
            <a:ext cx="8701740" cy="707886"/>
          </a:xfrm>
          <a:prstGeom prst="rect">
            <a:avLst/>
          </a:prstGeom>
          <a:noFill/>
        </p:spPr>
        <p:txBody>
          <a:bodyPr wrap="square" rtlCol="0">
            <a:spAutoFit/>
          </a:bodyPr>
          <a:lstStyle/>
          <a:p>
            <a:r>
              <a:rPr lang="pt-BR" sz="4000" b="1" dirty="0" smtClean="0">
                <a:latin typeface="Impact" panose="020B0806030902050204" pitchFamily="34" charset="0"/>
                <a:ea typeface="Calibri" panose="020F0502020204030204" pitchFamily="34" charset="0"/>
                <a:cs typeface="Calibri" panose="020F0502020204030204" pitchFamily="34" charset="0"/>
              </a:rPr>
              <a:t>A inclusão como força</a:t>
            </a:r>
            <a:endParaRPr lang="pt-BR" sz="4000" b="1" dirty="0">
              <a:latin typeface="Impact" panose="020B0806030902050204" pitchFamily="34" charset="0"/>
              <a:ea typeface="Calibri" panose="020F0502020204030204" pitchFamily="34" charset="0"/>
              <a:cs typeface="Calibri" panose="020F0502020204030204" pitchFamily="34" charset="0"/>
            </a:endParaRPr>
          </a:p>
        </p:txBody>
      </p:sp>
      <p:sp>
        <p:nvSpPr>
          <p:cNvPr id="3" name="subtitulo_componente"/>
          <p:cNvSpPr txBox="1"/>
          <p:nvPr/>
        </p:nvSpPr>
        <p:spPr>
          <a:xfrm>
            <a:off x="406399" y="2629702"/>
            <a:ext cx="8701741" cy="7478970"/>
          </a:xfrm>
          <a:prstGeom prst="rect">
            <a:avLst/>
          </a:prstGeom>
          <a:noFill/>
        </p:spPr>
        <p:txBody>
          <a:bodyPr wrap="square" rtlCol="0">
            <a:spAutoFit/>
          </a:bodyPr>
          <a:lstStyle/>
          <a:p>
            <a:pPr algn="just"/>
            <a:r>
              <a:rPr lang="pt-BR" sz="3200" dirty="0">
                <a:latin typeface="Calibri Light" panose="020F0302020204030204" pitchFamily="34" charset="0"/>
                <a:ea typeface="Calibri Light" panose="020F0302020204030204" pitchFamily="34" charset="0"/>
                <a:cs typeface="Calibri Light" panose="020F0302020204030204" pitchFamily="34" charset="0"/>
              </a:rPr>
              <a:t>A verdadeira superação está em ser reconhecido pelas suas habilidades, e não pelas limitações. Helen Keller, uma mulher surda e cega, disse: "Sozinhos podemos fazer tão pouco; juntos podemos fazer muito." No ambiente de trabalho, a inclusão não é um favor, é uma necessidade para todos. Ao buscar um espaço no mercado de trabalho, o deficiente auditivo deve lembrar que a colaboração e a empatia dos colegas são essenciais para sua jornada de sucesso</a:t>
            </a:r>
            <a:r>
              <a:rPr lang="pt-BR" sz="3200" dirty="0" smtClean="0">
                <a:latin typeface="Calibri Light" panose="020F0302020204030204" pitchFamily="34" charset="0"/>
                <a:ea typeface="Calibri Light" panose="020F0302020204030204" pitchFamily="34" charset="0"/>
                <a:cs typeface="Calibri Light" panose="020F0302020204030204" pitchFamily="34" charset="0"/>
              </a:rPr>
              <a:t>.</a:t>
            </a:r>
          </a:p>
          <a:p>
            <a:pPr algn="just"/>
            <a:endParaRPr lang="pt-BR" sz="3200" dirty="0">
              <a:latin typeface="Calibri Light" panose="020F0302020204030204" pitchFamily="34" charset="0"/>
              <a:ea typeface="Calibri Light" panose="020F0302020204030204" pitchFamily="34" charset="0"/>
              <a:cs typeface="Calibri Light" panose="020F0302020204030204" pitchFamily="34" charset="0"/>
            </a:endParaRPr>
          </a:p>
          <a:p>
            <a:pPr algn="just"/>
            <a:r>
              <a:rPr lang="pt-BR" sz="3200" dirty="0" smtClean="0">
                <a:latin typeface="Calibri Light" panose="020F0302020204030204" pitchFamily="34" charset="0"/>
                <a:ea typeface="Calibri Light" panose="020F0302020204030204" pitchFamily="34" charset="0"/>
                <a:cs typeface="Calibri Light" panose="020F0302020204030204" pitchFamily="34" charset="0"/>
              </a:rPr>
              <a:t>Criar </a:t>
            </a:r>
            <a:r>
              <a:rPr lang="pt-BR" sz="3200" dirty="0">
                <a:latin typeface="Calibri Light" panose="020F0302020204030204" pitchFamily="34" charset="0"/>
                <a:ea typeface="Calibri Light" panose="020F0302020204030204" pitchFamily="34" charset="0"/>
                <a:cs typeface="Calibri Light" panose="020F0302020204030204" pitchFamily="34" charset="0"/>
              </a:rPr>
              <a:t>um ambiente de trabalho inclusivo é fundamental. Isso não só beneficia os deficientes auditivos, mas também toda a equipe, criando uma cultura mais diversa e forte.</a:t>
            </a:r>
          </a:p>
        </p:txBody>
      </p:sp>
      <p:sp>
        <p:nvSpPr>
          <p:cNvPr id="5" name="Retângulo 4"/>
          <p:cNvSpPr/>
          <p:nvPr/>
        </p:nvSpPr>
        <p:spPr>
          <a:xfrm rot="16200000">
            <a:off x="-726143" y="1048867"/>
            <a:ext cx="1805894" cy="148417"/>
          </a:xfrm>
          <a:prstGeom prst="rect">
            <a:avLst/>
          </a:prstGeom>
          <a:solidFill>
            <a:srgbClr val="D60093"/>
          </a:solidFill>
          <a:ln>
            <a:no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spaço Reservado para Rodapé 5"/>
          <p:cNvSpPr>
            <a:spLocks noGrp="1"/>
          </p:cNvSpPr>
          <p:nvPr>
            <p:ph type="ftr" sz="quarter" idx="11"/>
          </p:nvPr>
        </p:nvSpPr>
        <p:spPr/>
        <p:txBody>
          <a:bodyPr/>
          <a:lstStyle/>
          <a:p>
            <a:r>
              <a:rPr lang="pt-BR" smtClean="0">
                <a:latin typeface="Impact" panose="020B0806030902050204" pitchFamily="34" charset="0"/>
              </a:rPr>
              <a:t>Além da Surdez: Vencendo Desafios no Mercado de Trabalho - Keylla Silva Lopes</a:t>
            </a:r>
            <a:endParaRPr lang="pt-BR" dirty="0">
              <a:latin typeface="Impact" panose="020B0806030902050204" pitchFamily="34" charset="0"/>
            </a:endParaRPr>
          </a:p>
        </p:txBody>
      </p:sp>
      <p:sp>
        <p:nvSpPr>
          <p:cNvPr id="7" name="Espaço Reservado para Número de Slide 6"/>
          <p:cNvSpPr>
            <a:spLocks noGrp="1"/>
          </p:cNvSpPr>
          <p:nvPr>
            <p:ph type="sldNum" sz="quarter" idx="12"/>
          </p:nvPr>
        </p:nvSpPr>
        <p:spPr/>
        <p:txBody>
          <a:bodyPr/>
          <a:lstStyle/>
          <a:p>
            <a:fld id="{A1070A76-9721-4EC6-9400-468C99D088FF}" type="slidenum">
              <a:rPr lang="pt-BR" smtClean="0"/>
              <a:t>8</a:t>
            </a:fld>
            <a:endParaRPr lang="pt-BR"/>
          </a:p>
        </p:txBody>
      </p:sp>
    </p:spTree>
    <p:extLst>
      <p:ext uri="{BB962C8B-B14F-4D97-AF65-F5344CB8AC3E}">
        <p14:creationId xmlns:p14="http://schemas.microsoft.com/office/powerpoint/2010/main" val="38422261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0" y="0"/>
            <a:ext cx="9601200" cy="12801600"/>
          </a:xfrm>
          <a:prstGeom prst="rect">
            <a:avLst/>
          </a:prstGeom>
          <a:solidFill>
            <a:srgbClr val="194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titulo_componente"/>
          <p:cNvSpPr txBox="1"/>
          <p:nvPr/>
        </p:nvSpPr>
        <p:spPr>
          <a:xfrm>
            <a:off x="203200" y="7817223"/>
            <a:ext cx="9194800" cy="1323439"/>
          </a:xfrm>
          <a:prstGeom prst="rect">
            <a:avLst/>
          </a:prstGeom>
          <a:noFill/>
        </p:spPr>
        <p:txBody>
          <a:bodyPr wrap="square" rtlCol="0">
            <a:spAutoFit/>
          </a:bodyPr>
          <a:lstStyle/>
          <a:p>
            <a:pPr algn="ctr"/>
            <a:r>
              <a:rPr lang="pt-BR" sz="4000" b="1" dirty="0">
                <a:solidFill>
                  <a:schemeClr val="bg1"/>
                </a:solidFill>
                <a:latin typeface="Impact" panose="020B0806030902050204" pitchFamily="34" charset="0"/>
                <a:ea typeface="Calibri" panose="020F0502020204030204" pitchFamily="34" charset="0"/>
                <a:cs typeface="Calibri" panose="020F0502020204030204" pitchFamily="34" charset="0"/>
              </a:rPr>
              <a:t>Desafios São Oportunidades de Crescimento</a:t>
            </a:r>
          </a:p>
        </p:txBody>
      </p:sp>
      <p:sp>
        <p:nvSpPr>
          <p:cNvPr id="4" name="titulo_componente"/>
          <p:cNvSpPr txBox="1"/>
          <p:nvPr/>
        </p:nvSpPr>
        <p:spPr>
          <a:xfrm>
            <a:off x="203200" y="707886"/>
            <a:ext cx="9194800" cy="5386090"/>
          </a:xfrm>
          <a:prstGeom prst="rect">
            <a:avLst/>
          </a:prstGeom>
          <a:noFill/>
        </p:spPr>
        <p:txBody>
          <a:bodyPr wrap="square" rtlCol="0">
            <a:spAutoFit/>
          </a:bodyPr>
          <a:lstStyle/>
          <a:p>
            <a:pPr algn="ctr"/>
            <a:r>
              <a:rPr lang="pt-BR" sz="34400" b="1" dirty="0" smtClean="0">
                <a:ln>
                  <a:solidFill>
                    <a:schemeClr val="bg1"/>
                  </a:solidFill>
                </a:ln>
                <a:noFill/>
                <a:latin typeface="Impact" panose="020B0806030902050204" pitchFamily="34" charset="0"/>
                <a:ea typeface="Calibri" panose="020F0502020204030204" pitchFamily="34" charset="0"/>
                <a:cs typeface="Calibri" panose="020F0502020204030204" pitchFamily="34" charset="0"/>
              </a:rPr>
              <a:t>04</a:t>
            </a:r>
            <a:endParaRPr lang="pt-BR" sz="34400" b="1" dirty="0">
              <a:ln>
                <a:solidFill>
                  <a:schemeClr val="bg1"/>
                </a:solidFill>
              </a:ln>
              <a:noFill/>
              <a:latin typeface="Impact" panose="020B0806030902050204" pitchFamily="34" charset="0"/>
              <a:ea typeface="Calibri" panose="020F0502020204030204" pitchFamily="34" charset="0"/>
              <a:cs typeface="Calibri" panose="020F0502020204030204" pitchFamily="34" charset="0"/>
            </a:endParaRPr>
          </a:p>
        </p:txBody>
      </p:sp>
      <p:sp>
        <p:nvSpPr>
          <p:cNvPr id="5" name="Retângulo 4"/>
          <p:cNvSpPr/>
          <p:nvPr/>
        </p:nvSpPr>
        <p:spPr>
          <a:xfrm>
            <a:off x="1864659" y="10040471"/>
            <a:ext cx="6562165" cy="143435"/>
          </a:xfrm>
          <a:prstGeom prst="rect">
            <a:avLst/>
          </a:prstGeom>
          <a:solidFill>
            <a:srgbClr val="D60093"/>
          </a:solidFill>
          <a:ln>
            <a:no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spaço Reservado para Rodapé 5"/>
          <p:cNvSpPr>
            <a:spLocks noGrp="1"/>
          </p:cNvSpPr>
          <p:nvPr>
            <p:ph type="ftr" sz="quarter" idx="11"/>
          </p:nvPr>
        </p:nvSpPr>
        <p:spPr/>
        <p:txBody>
          <a:bodyPr/>
          <a:lstStyle/>
          <a:p>
            <a:r>
              <a:rPr lang="pt-BR" smtClean="0">
                <a:latin typeface="Impact" panose="020B0806030902050204" pitchFamily="34" charset="0"/>
              </a:rPr>
              <a:t>Além da Surdez: Vencendo Desafios no Mercado de Trabalho - Keylla Silva Lopes</a:t>
            </a:r>
            <a:endParaRPr lang="pt-BR" dirty="0">
              <a:latin typeface="Impact" panose="020B0806030902050204" pitchFamily="34" charset="0"/>
            </a:endParaRPr>
          </a:p>
        </p:txBody>
      </p:sp>
      <p:sp>
        <p:nvSpPr>
          <p:cNvPr id="7" name="Espaço Reservado para Número de Slide 6"/>
          <p:cNvSpPr>
            <a:spLocks noGrp="1"/>
          </p:cNvSpPr>
          <p:nvPr>
            <p:ph type="sldNum" sz="quarter" idx="12"/>
          </p:nvPr>
        </p:nvSpPr>
        <p:spPr/>
        <p:txBody>
          <a:bodyPr/>
          <a:lstStyle/>
          <a:p>
            <a:fld id="{A1070A76-9721-4EC6-9400-468C99D088FF}" type="slidenum">
              <a:rPr lang="pt-BR" smtClean="0"/>
              <a:t>9</a:t>
            </a:fld>
            <a:endParaRPr lang="pt-BR"/>
          </a:p>
        </p:txBody>
      </p:sp>
    </p:spTree>
    <p:extLst>
      <p:ext uri="{BB962C8B-B14F-4D97-AF65-F5344CB8AC3E}">
        <p14:creationId xmlns:p14="http://schemas.microsoft.com/office/powerpoint/2010/main" val="3771559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ulo_componente"/>
          <p:cNvSpPr txBox="1"/>
          <p:nvPr/>
        </p:nvSpPr>
        <p:spPr>
          <a:xfrm>
            <a:off x="406400" y="1424905"/>
            <a:ext cx="8701740" cy="1323439"/>
          </a:xfrm>
          <a:prstGeom prst="rect">
            <a:avLst/>
          </a:prstGeom>
          <a:noFill/>
        </p:spPr>
        <p:txBody>
          <a:bodyPr wrap="square" rtlCol="0">
            <a:spAutoFit/>
          </a:bodyPr>
          <a:lstStyle/>
          <a:p>
            <a:r>
              <a:rPr lang="pt-BR" sz="4000" b="1" dirty="0" smtClean="0">
                <a:latin typeface="Impact" panose="020B0806030902050204" pitchFamily="34" charset="0"/>
                <a:ea typeface="Calibri" panose="020F0502020204030204" pitchFamily="34" charset="0"/>
                <a:cs typeface="Calibri" panose="020F0502020204030204" pitchFamily="34" charset="0"/>
              </a:rPr>
              <a:t>Desafios são oportunidades de crescimento</a:t>
            </a:r>
            <a:endParaRPr lang="pt-BR" sz="4000" b="1" dirty="0">
              <a:latin typeface="Impact" panose="020B0806030902050204" pitchFamily="34" charset="0"/>
              <a:ea typeface="Calibri" panose="020F0502020204030204" pitchFamily="34" charset="0"/>
              <a:cs typeface="Calibri" panose="020F0502020204030204" pitchFamily="34" charset="0"/>
            </a:endParaRPr>
          </a:p>
        </p:txBody>
      </p:sp>
      <p:sp>
        <p:nvSpPr>
          <p:cNvPr id="3" name="subtitulo_componente"/>
          <p:cNvSpPr txBox="1"/>
          <p:nvPr/>
        </p:nvSpPr>
        <p:spPr>
          <a:xfrm>
            <a:off x="406400" y="3454455"/>
            <a:ext cx="8701741" cy="6494085"/>
          </a:xfrm>
          <a:prstGeom prst="rect">
            <a:avLst/>
          </a:prstGeom>
          <a:noFill/>
        </p:spPr>
        <p:txBody>
          <a:bodyPr wrap="square" rtlCol="0">
            <a:spAutoFit/>
          </a:bodyPr>
          <a:lstStyle/>
          <a:p>
            <a:pPr algn="just"/>
            <a:r>
              <a:rPr lang="pt-BR" sz="3200" dirty="0">
                <a:latin typeface="Calibri Light" panose="020F0302020204030204" pitchFamily="34" charset="0"/>
                <a:ea typeface="Calibri Light" panose="020F0302020204030204" pitchFamily="34" charset="0"/>
                <a:cs typeface="Calibri Light" panose="020F0302020204030204" pitchFamily="34" charset="0"/>
              </a:rPr>
              <a:t>Todo desafio é, na verdade, uma oportunidade disfarçada. Confúcio nos ensina: "Nossa maior glória não está em nunca cair, mas em nos levantarmos toda vez que caímos." As dificuldades que surgem no ambiente de trabalho podem parecer enormes no início, mas elas são degraus importantes para o crescimento profissional e pessoal</a:t>
            </a:r>
            <a:r>
              <a:rPr lang="pt-BR" sz="3200" dirty="0" smtClean="0">
                <a:latin typeface="Calibri Light" panose="020F0302020204030204" pitchFamily="34" charset="0"/>
                <a:ea typeface="Calibri Light" panose="020F0302020204030204" pitchFamily="34" charset="0"/>
                <a:cs typeface="Calibri Light" panose="020F0302020204030204" pitchFamily="34" charset="0"/>
              </a:rPr>
              <a:t>.</a:t>
            </a:r>
          </a:p>
          <a:p>
            <a:pPr algn="just"/>
            <a:endParaRPr lang="pt-BR" sz="3200" dirty="0">
              <a:latin typeface="Calibri Light" panose="020F0302020204030204" pitchFamily="34" charset="0"/>
              <a:ea typeface="Calibri Light" panose="020F0302020204030204" pitchFamily="34" charset="0"/>
              <a:cs typeface="Calibri Light" panose="020F0302020204030204" pitchFamily="34" charset="0"/>
            </a:endParaRPr>
          </a:p>
          <a:p>
            <a:pPr algn="just"/>
            <a:r>
              <a:rPr lang="pt-BR" sz="3200" dirty="0" smtClean="0">
                <a:latin typeface="Calibri Light" panose="020F0302020204030204" pitchFamily="34" charset="0"/>
                <a:ea typeface="Calibri Light" panose="020F0302020204030204" pitchFamily="34" charset="0"/>
                <a:cs typeface="Calibri Light" panose="020F0302020204030204" pitchFamily="34" charset="0"/>
              </a:rPr>
              <a:t>Seja </a:t>
            </a:r>
            <a:r>
              <a:rPr lang="pt-BR" sz="3200" dirty="0">
                <a:latin typeface="Calibri Light" panose="020F0302020204030204" pitchFamily="34" charset="0"/>
                <a:ea typeface="Calibri Light" panose="020F0302020204030204" pitchFamily="34" charset="0"/>
                <a:cs typeface="Calibri Light" panose="020F0302020204030204" pitchFamily="34" charset="0"/>
              </a:rPr>
              <a:t>lidando com um colega que não compreende as necessidades de comunicação ou enfrentando uma situação em que a tecnologia falha, cada obstáculo superado se torna uma vitória. O importante é não desistir.</a:t>
            </a:r>
          </a:p>
        </p:txBody>
      </p:sp>
      <p:sp>
        <p:nvSpPr>
          <p:cNvPr id="5" name="Retângulo 4"/>
          <p:cNvSpPr/>
          <p:nvPr/>
        </p:nvSpPr>
        <p:spPr>
          <a:xfrm rot="16200000">
            <a:off x="-726143" y="1048867"/>
            <a:ext cx="1805894" cy="148417"/>
          </a:xfrm>
          <a:prstGeom prst="rect">
            <a:avLst/>
          </a:prstGeom>
          <a:solidFill>
            <a:srgbClr val="D60093"/>
          </a:solidFill>
          <a:ln>
            <a:no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spaço Reservado para Rodapé 5"/>
          <p:cNvSpPr>
            <a:spLocks noGrp="1"/>
          </p:cNvSpPr>
          <p:nvPr>
            <p:ph type="ftr" sz="quarter" idx="11"/>
          </p:nvPr>
        </p:nvSpPr>
        <p:spPr/>
        <p:txBody>
          <a:bodyPr/>
          <a:lstStyle/>
          <a:p>
            <a:r>
              <a:rPr lang="pt-BR" smtClean="0">
                <a:latin typeface="Impact" panose="020B0806030902050204" pitchFamily="34" charset="0"/>
              </a:rPr>
              <a:t>Além da Surdez: Vencendo Desafios no Mercado de Trabalho - Keylla Silva Lopes</a:t>
            </a:r>
            <a:endParaRPr lang="pt-BR" dirty="0">
              <a:latin typeface="Impact" panose="020B0806030902050204" pitchFamily="34" charset="0"/>
            </a:endParaRPr>
          </a:p>
        </p:txBody>
      </p:sp>
      <p:sp>
        <p:nvSpPr>
          <p:cNvPr id="7" name="Espaço Reservado para Número de Slide 6"/>
          <p:cNvSpPr>
            <a:spLocks noGrp="1"/>
          </p:cNvSpPr>
          <p:nvPr>
            <p:ph type="sldNum" sz="quarter" idx="12"/>
          </p:nvPr>
        </p:nvSpPr>
        <p:spPr/>
        <p:txBody>
          <a:bodyPr/>
          <a:lstStyle/>
          <a:p>
            <a:fld id="{A1070A76-9721-4EC6-9400-468C99D088FF}" type="slidenum">
              <a:rPr lang="pt-BR" smtClean="0"/>
              <a:t>10</a:t>
            </a:fld>
            <a:endParaRPr lang="pt-BR"/>
          </a:p>
        </p:txBody>
      </p:sp>
    </p:spTree>
    <p:extLst>
      <p:ext uri="{BB962C8B-B14F-4D97-AF65-F5344CB8AC3E}">
        <p14:creationId xmlns:p14="http://schemas.microsoft.com/office/powerpoint/2010/main" val="3854698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0" y="0"/>
            <a:ext cx="9601200" cy="12801600"/>
          </a:xfrm>
          <a:prstGeom prst="rect">
            <a:avLst/>
          </a:prstGeom>
          <a:solidFill>
            <a:srgbClr val="194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titulo_componente"/>
          <p:cNvSpPr txBox="1"/>
          <p:nvPr/>
        </p:nvSpPr>
        <p:spPr>
          <a:xfrm>
            <a:off x="203200" y="7817223"/>
            <a:ext cx="9194800" cy="1323439"/>
          </a:xfrm>
          <a:prstGeom prst="rect">
            <a:avLst/>
          </a:prstGeom>
          <a:noFill/>
        </p:spPr>
        <p:txBody>
          <a:bodyPr wrap="square" rtlCol="0">
            <a:spAutoFit/>
          </a:bodyPr>
          <a:lstStyle/>
          <a:p>
            <a:pPr algn="ctr"/>
            <a:r>
              <a:rPr lang="pt-BR" sz="4000" b="1" dirty="0">
                <a:solidFill>
                  <a:schemeClr val="bg1"/>
                </a:solidFill>
                <a:latin typeface="Impact" panose="020B0806030902050204" pitchFamily="34" charset="0"/>
                <a:ea typeface="Calibri" panose="020F0502020204030204" pitchFamily="34" charset="0"/>
                <a:cs typeface="Calibri" panose="020F0502020204030204" pitchFamily="34" charset="0"/>
              </a:rPr>
              <a:t>Conquistando Seu Espaço no Mercado de Trabalho</a:t>
            </a:r>
          </a:p>
        </p:txBody>
      </p:sp>
      <p:sp>
        <p:nvSpPr>
          <p:cNvPr id="4" name="titulo_componente"/>
          <p:cNvSpPr txBox="1"/>
          <p:nvPr/>
        </p:nvSpPr>
        <p:spPr>
          <a:xfrm>
            <a:off x="203200" y="707886"/>
            <a:ext cx="9194800" cy="5386090"/>
          </a:xfrm>
          <a:prstGeom prst="rect">
            <a:avLst/>
          </a:prstGeom>
          <a:noFill/>
        </p:spPr>
        <p:txBody>
          <a:bodyPr wrap="square" rtlCol="0">
            <a:spAutoFit/>
          </a:bodyPr>
          <a:lstStyle/>
          <a:p>
            <a:pPr algn="ctr"/>
            <a:r>
              <a:rPr lang="pt-BR" sz="34400" b="1" dirty="0" smtClean="0">
                <a:ln>
                  <a:solidFill>
                    <a:schemeClr val="bg1"/>
                  </a:solidFill>
                </a:ln>
                <a:noFill/>
                <a:latin typeface="Impact" panose="020B0806030902050204" pitchFamily="34" charset="0"/>
                <a:ea typeface="Calibri" panose="020F0502020204030204" pitchFamily="34" charset="0"/>
                <a:cs typeface="Calibri" panose="020F0502020204030204" pitchFamily="34" charset="0"/>
              </a:rPr>
              <a:t>05</a:t>
            </a:r>
            <a:endParaRPr lang="pt-BR" sz="34400" b="1" dirty="0">
              <a:ln>
                <a:solidFill>
                  <a:schemeClr val="bg1"/>
                </a:solidFill>
              </a:ln>
              <a:noFill/>
              <a:latin typeface="Impact" panose="020B0806030902050204" pitchFamily="34" charset="0"/>
              <a:ea typeface="Calibri" panose="020F0502020204030204" pitchFamily="34" charset="0"/>
              <a:cs typeface="Calibri" panose="020F0502020204030204" pitchFamily="34" charset="0"/>
            </a:endParaRPr>
          </a:p>
        </p:txBody>
      </p:sp>
      <p:sp>
        <p:nvSpPr>
          <p:cNvPr id="5" name="Retângulo 4"/>
          <p:cNvSpPr/>
          <p:nvPr/>
        </p:nvSpPr>
        <p:spPr>
          <a:xfrm>
            <a:off x="1864659" y="10040471"/>
            <a:ext cx="6562165" cy="143435"/>
          </a:xfrm>
          <a:prstGeom prst="rect">
            <a:avLst/>
          </a:prstGeom>
          <a:solidFill>
            <a:srgbClr val="D60093"/>
          </a:solidFill>
          <a:ln>
            <a:no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spaço Reservado para Rodapé 5"/>
          <p:cNvSpPr>
            <a:spLocks noGrp="1"/>
          </p:cNvSpPr>
          <p:nvPr>
            <p:ph type="ftr" sz="quarter" idx="11"/>
          </p:nvPr>
        </p:nvSpPr>
        <p:spPr/>
        <p:txBody>
          <a:bodyPr/>
          <a:lstStyle/>
          <a:p>
            <a:r>
              <a:rPr lang="pt-BR" smtClean="0">
                <a:latin typeface="Impact" panose="020B0806030902050204" pitchFamily="34" charset="0"/>
              </a:rPr>
              <a:t>Além da Surdez: Vencendo Desafios no Mercado de Trabalho - Keylla Silva Lopes</a:t>
            </a:r>
            <a:endParaRPr lang="pt-BR" dirty="0">
              <a:latin typeface="Impact" panose="020B0806030902050204" pitchFamily="34" charset="0"/>
            </a:endParaRPr>
          </a:p>
        </p:txBody>
      </p:sp>
      <p:sp>
        <p:nvSpPr>
          <p:cNvPr id="7" name="Espaço Reservado para Número de Slide 6"/>
          <p:cNvSpPr>
            <a:spLocks noGrp="1"/>
          </p:cNvSpPr>
          <p:nvPr>
            <p:ph type="sldNum" sz="quarter" idx="12"/>
          </p:nvPr>
        </p:nvSpPr>
        <p:spPr/>
        <p:txBody>
          <a:bodyPr/>
          <a:lstStyle/>
          <a:p>
            <a:fld id="{A1070A76-9721-4EC6-9400-468C99D088FF}" type="slidenum">
              <a:rPr lang="pt-BR" smtClean="0"/>
              <a:t>11</a:t>
            </a:fld>
            <a:endParaRPr lang="pt-BR"/>
          </a:p>
        </p:txBody>
      </p:sp>
    </p:spTree>
    <p:extLst>
      <p:ext uri="{BB962C8B-B14F-4D97-AF65-F5344CB8AC3E}">
        <p14:creationId xmlns:p14="http://schemas.microsoft.com/office/powerpoint/2010/main" val="1783794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ulo_componente"/>
          <p:cNvSpPr txBox="1"/>
          <p:nvPr/>
        </p:nvSpPr>
        <p:spPr>
          <a:xfrm>
            <a:off x="406400" y="1424905"/>
            <a:ext cx="8701740" cy="1323439"/>
          </a:xfrm>
          <a:prstGeom prst="rect">
            <a:avLst/>
          </a:prstGeom>
          <a:noFill/>
        </p:spPr>
        <p:txBody>
          <a:bodyPr wrap="square" rtlCol="0">
            <a:spAutoFit/>
          </a:bodyPr>
          <a:lstStyle/>
          <a:p>
            <a:r>
              <a:rPr lang="pt-BR" sz="4000" b="1" dirty="0" smtClean="0">
                <a:latin typeface="Impact" panose="020B0806030902050204" pitchFamily="34" charset="0"/>
                <a:ea typeface="Calibri" panose="020F0502020204030204" pitchFamily="34" charset="0"/>
                <a:cs typeface="Calibri" panose="020F0502020204030204" pitchFamily="34" charset="0"/>
              </a:rPr>
              <a:t>Conquistando seu espaço no mercado de trabalho</a:t>
            </a:r>
            <a:endParaRPr lang="pt-BR" sz="4000" b="1" dirty="0">
              <a:latin typeface="Impact" panose="020B0806030902050204" pitchFamily="34" charset="0"/>
              <a:ea typeface="Calibri" panose="020F0502020204030204" pitchFamily="34" charset="0"/>
              <a:cs typeface="Calibri" panose="020F0502020204030204" pitchFamily="34" charset="0"/>
            </a:endParaRPr>
          </a:p>
        </p:txBody>
      </p:sp>
      <p:sp>
        <p:nvSpPr>
          <p:cNvPr id="3" name="subtitulo_componente"/>
          <p:cNvSpPr txBox="1"/>
          <p:nvPr/>
        </p:nvSpPr>
        <p:spPr>
          <a:xfrm>
            <a:off x="406400" y="3454455"/>
            <a:ext cx="8701741" cy="7971413"/>
          </a:xfrm>
          <a:prstGeom prst="rect">
            <a:avLst/>
          </a:prstGeom>
          <a:noFill/>
        </p:spPr>
        <p:txBody>
          <a:bodyPr wrap="square" rtlCol="0">
            <a:spAutoFit/>
          </a:bodyPr>
          <a:lstStyle/>
          <a:p>
            <a:pPr algn="just"/>
            <a:r>
              <a:rPr lang="pt-BR" sz="3200" dirty="0">
                <a:latin typeface="Calibri Light" panose="020F0302020204030204" pitchFamily="34" charset="0"/>
                <a:ea typeface="Calibri Light" panose="020F0302020204030204" pitchFamily="34" charset="0"/>
                <a:cs typeface="Calibri Light" panose="020F0302020204030204" pitchFamily="34" charset="0"/>
              </a:rPr>
              <a:t>A chave para o sucesso no trabalho é mostrar, com atitudes e resultados, que a surdez não é um impedimento, mas parte do que torna cada indivíduo único. Ralph Waldo Emerson disse: "O que está por trás de nós e o que está à nossa frente são pequenas questões comparadas ao que está dentro de nós." E dentro de cada pessoa com deficiência auditiva, há uma força incomparável</a:t>
            </a:r>
            <a:r>
              <a:rPr lang="pt-BR" sz="3200" dirty="0" smtClean="0">
                <a:latin typeface="Calibri Light" panose="020F0302020204030204" pitchFamily="34" charset="0"/>
                <a:ea typeface="Calibri Light" panose="020F0302020204030204" pitchFamily="34" charset="0"/>
                <a:cs typeface="Calibri Light" panose="020F0302020204030204" pitchFamily="34" charset="0"/>
              </a:rPr>
              <a:t>.</a:t>
            </a:r>
          </a:p>
          <a:p>
            <a:pPr algn="just"/>
            <a:endParaRPr lang="pt-BR" sz="3200" dirty="0">
              <a:latin typeface="Calibri Light" panose="020F0302020204030204" pitchFamily="34" charset="0"/>
              <a:ea typeface="Calibri Light" panose="020F0302020204030204" pitchFamily="34" charset="0"/>
              <a:cs typeface="Calibri Light" panose="020F0302020204030204" pitchFamily="34" charset="0"/>
            </a:endParaRPr>
          </a:p>
          <a:p>
            <a:pPr algn="just"/>
            <a:r>
              <a:rPr lang="pt-BR" sz="3200" dirty="0" smtClean="0">
                <a:latin typeface="Calibri Light" panose="020F0302020204030204" pitchFamily="34" charset="0"/>
                <a:ea typeface="Calibri Light" panose="020F0302020204030204" pitchFamily="34" charset="0"/>
                <a:cs typeface="Calibri Light" panose="020F0302020204030204" pitchFamily="34" charset="0"/>
              </a:rPr>
              <a:t>No </a:t>
            </a:r>
            <a:r>
              <a:rPr lang="pt-BR" sz="3200" dirty="0">
                <a:latin typeface="Calibri Light" panose="020F0302020204030204" pitchFamily="34" charset="0"/>
                <a:ea typeface="Calibri Light" panose="020F0302020204030204" pitchFamily="34" charset="0"/>
                <a:cs typeface="Calibri Light" panose="020F0302020204030204" pitchFamily="34" charset="0"/>
              </a:rPr>
              <a:t>mercado de trabalho, conquistar seu espaço envolve mais do que apenas se adaptar: é se destacar. Demonstrar habilidades, competências e a capacidade de resolver problemas é o que garante o sucesso. Cada pequeno passo de superação traz mais confiança e abre portas para novas oportunidades.</a:t>
            </a:r>
          </a:p>
        </p:txBody>
      </p:sp>
      <p:sp>
        <p:nvSpPr>
          <p:cNvPr id="5" name="Retângulo 4"/>
          <p:cNvSpPr/>
          <p:nvPr/>
        </p:nvSpPr>
        <p:spPr>
          <a:xfrm rot="16200000">
            <a:off x="-726143" y="1048867"/>
            <a:ext cx="1805894" cy="148417"/>
          </a:xfrm>
          <a:prstGeom prst="rect">
            <a:avLst/>
          </a:prstGeom>
          <a:solidFill>
            <a:srgbClr val="D60093"/>
          </a:solidFill>
          <a:ln>
            <a:no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spaço Reservado para Rodapé 5"/>
          <p:cNvSpPr>
            <a:spLocks noGrp="1"/>
          </p:cNvSpPr>
          <p:nvPr>
            <p:ph type="ftr" sz="quarter" idx="11"/>
          </p:nvPr>
        </p:nvSpPr>
        <p:spPr/>
        <p:txBody>
          <a:bodyPr/>
          <a:lstStyle/>
          <a:p>
            <a:r>
              <a:rPr lang="pt-BR" smtClean="0">
                <a:latin typeface="Impact" panose="020B0806030902050204" pitchFamily="34" charset="0"/>
              </a:rPr>
              <a:t>Além da Surdez: Vencendo Desafios no Mercado de Trabalho - Keylla Silva Lopes</a:t>
            </a:r>
            <a:endParaRPr lang="pt-BR" dirty="0">
              <a:latin typeface="Impact" panose="020B0806030902050204" pitchFamily="34" charset="0"/>
            </a:endParaRPr>
          </a:p>
        </p:txBody>
      </p:sp>
      <p:sp>
        <p:nvSpPr>
          <p:cNvPr id="7" name="Espaço Reservado para Número de Slide 6"/>
          <p:cNvSpPr>
            <a:spLocks noGrp="1"/>
          </p:cNvSpPr>
          <p:nvPr>
            <p:ph type="sldNum" sz="quarter" idx="12"/>
          </p:nvPr>
        </p:nvSpPr>
        <p:spPr/>
        <p:txBody>
          <a:bodyPr/>
          <a:lstStyle/>
          <a:p>
            <a:fld id="{A1070A76-9721-4EC6-9400-468C99D088FF}" type="slidenum">
              <a:rPr lang="pt-BR" smtClean="0"/>
              <a:t>12</a:t>
            </a:fld>
            <a:endParaRPr lang="pt-BR"/>
          </a:p>
        </p:txBody>
      </p:sp>
    </p:spTree>
    <p:extLst>
      <p:ext uri="{BB962C8B-B14F-4D97-AF65-F5344CB8AC3E}">
        <p14:creationId xmlns:p14="http://schemas.microsoft.com/office/powerpoint/2010/main" val="28559011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0" y="0"/>
            <a:ext cx="9601200" cy="12801600"/>
          </a:xfrm>
          <a:prstGeom prst="rect">
            <a:avLst/>
          </a:prstGeom>
          <a:solidFill>
            <a:srgbClr val="194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titulo_componente"/>
          <p:cNvSpPr txBox="1"/>
          <p:nvPr/>
        </p:nvSpPr>
        <p:spPr>
          <a:xfrm>
            <a:off x="203200" y="7817223"/>
            <a:ext cx="9194800" cy="1862048"/>
          </a:xfrm>
          <a:prstGeom prst="rect">
            <a:avLst/>
          </a:prstGeom>
          <a:noFill/>
        </p:spPr>
        <p:txBody>
          <a:bodyPr wrap="square" rtlCol="0">
            <a:spAutoFit/>
          </a:bodyPr>
          <a:lstStyle/>
          <a:p>
            <a:pPr algn="ctr"/>
            <a:r>
              <a:rPr lang="pt-BR" sz="11500" b="1" dirty="0" smtClean="0">
                <a:solidFill>
                  <a:schemeClr val="bg1"/>
                </a:solidFill>
                <a:latin typeface="Impact" panose="020B0806030902050204" pitchFamily="34" charset="0"/>
                <a:ea typeface="Calibri" panose="020F0502020204030204" pitchFamily="34" charset="0"/>
                <a:cs typeface="Calibri" panose="020F0502020204030204" pitchFamily="34" charset="0"/>
              </a:rPr>
              <a:t>Conclusão</a:t>
            </a:r>
            <a:endParaRPr lang="pt-BR" sz="11500" b="1" dirty="0">
              <a:solidFill>
                <a:schemeClr val="bg1"/>
              </a:solidFill>
              <a:latin typeface="Impact" panose="020B0806030902050204" pitchFamily="34" charset="0"/>
              <a:ea typeface="Calibri" panose="020F0502020204030204" pitchFamily="34" charset="0"/>
              <a:cs typeface="Calibri" panose="020F0502020204030204" pitchFamily="34" charset="0"/>
            </a:endParaRPr>
          </a:p>
        </p:txBody>
      </p:sp>
      <p:sp>
        <p:nvSpPr>
          <p:cNvPr id="5" name="Retângulo 4"/>
          <p:cNvSpPr/>
          <p:nvPr/>
        </p:nvSpPr>
        <p:spPr>
          <a:xfrm>
            <a:off x="1864659" y="10040471"/>
            <a:ext cx="6562165" cy="143435"/>
          </a:xfrm>
          <a:prstGeom prst="rect">
            <a:avLst/>
          </a:prstGeom>
          <a:solidFill>
            <a:srgbClr val="D60093"/>
          </a:solidFill>
          <a:ln>
            <a:no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spaço Reservado para Rodapé 5"/>
          <p:cNvSpPr>
            <a:spLocks noGrp="1"/>
          </p:cNvSpPr>
          <p:nvPr>
            <p:ph type="ftr" sz="quarter" idx="11"/>
          </p:nvPr>
        </p:nvSpPr>
        <p:spPr/>
        <p:txBody>
          <a:bodyPr/>
          <a:lstStyle/>
          <a:p>
            <a:r>
              <a:rPr lang="pt-BR" dirty="0" smtClean="0">
                <a:latin typeface="Impact" panose="020B0806030902050204" pitchFamily="34" charset="0"/>
              </a:rPr>
              <a:t>Além da Surdez: Vencendo Desafios no Mercado de Trabalho - Keylla Silva Lopes</a:t>
            </a:r>
            <a:endParaRPr lang="pt-BR" dirty="0">
              <a:latin typeface="Impact" panose="020B0806030902050204" pitchFamily="34" charset="0"/>
            </a:endParaRPr>
          </a:p>
        </p:txBody>
      </p:sp>
      <p:sp>
        <p:nvSpPr>
          <p:cNvPr id="7" name="Espaço Reservado para Número de Slide 6"/>
          <p:cNvSpPr>
            <a:spLocks noGrp="1"/>
          </p:cNvSpPr>
          <p:nvPr>
            <p:ph type="sldNum" sz="quarter" idx="12"/>
          </p:nvPr>
        </p:nvSpPr>
        <p:spPr/>
        <p:txBody>
          <a:bodyPr/>
          <a:lstStyle/>
          <a:p>
            <a:fld id="{A1070A76-9721-4EC6-9400-468C99D088FF}" type="slidenum">
              <a:rPr lang="pt-BR" smtClean="0"/>
              <a:t>13</a:t>
            </a:fld>
            <a:endParaRPr lang="pt-BR"/>
          </a:p>
        </p:txBody>
      </p:sp>
    </p:spTree>
    <p:extLst>
      <p:ext uri="{BB962C8B-B14F-4D97-AF65-F5344CB8AC3E}">
        <p14:creationId xmlns:p14="http://schemas.microsoft.com/office/powerpoint/2010/main" val="10348602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ulo_componente"/>
          <p:cNvSpPr txBox="1"/>
          <p:nvPr/>
        </p:nvSpPr>
        <p:spPr>
          <a:xfrm>
            <a:off x="406399" y="2026023"/>
            <a:ext cx="8701741" cy="6494085"/>
          </a:xfrm>
          <a:prstGeom prst="rect">
            <a:avLst/>
          </a:prstGeom>
          <a:noFill/>
        </p:spPr>
        <p:txBody>
          <a:bodyPr wrap="square" rtlCol="0">
            <a:spAutoFit/>
          </a:bodyPr>
          <a:lstStyle/>
          <a:p>
            <a:pPr algn="just"/>
            <a:r>
              <a:rPr lang="pt-BR" sz="3200" dirty="0">
                <a:latin typeface="Calibri Light" panose="020F0302020204030204" pitchFamily="34" charset="0"/>
                <a:ea typeface="Calibri Light" panose="020F0302020204030204" pitchFamily="34" charset="0"/>
                <a:cs typeface="Calibri Light" panose="020F0302020204030204" pitchFamily="34" charset="0"/>
              </a:rPr>
              <a:t>No final, a verdadeira superação não está em eliminar a surdez, mas em encontrar forças para ser bem-sucedido apesar dela</a:t>
            </a:r>
            <a:r>
              <a:rPr lang="pt-BR" sz="3200" dirty="0" smtClean="0">
                <a:latin typeface="Calibri Light" panose="020F0302020204030204" pitchFamily="34" charset="0"/>
                <a:ea typeface="Calibri Light" panose="020F0302020204030204" pitchFamily="34" charset="0"/>
                <a:cs typeface="Calibri Light" panose="020F0302020204030204" pitchFamily="34" charset="0"/>
              </a:rPr>
              <a:t>.</a:t>
            </a:r>
          </a:p>
          <a:p>
            <a:pPr algn="just"/>
            <a:endParaRPr lang="pt-BR" sz="3200" dirty="0">
              <a:latin typeface="Calibri Light" panose="020F0302020204030204" pitchFamily="34" charset="0"/>
              <a:ea typeface="Calibri Light" panose="020F0302020204030204" pitchFamily="34" charset="0"/>
              <a:cs typeface="Calibri Light" panose="020F0302020204030204" pitchFamily="34" charset="0"/>
            </a:endParaRPr>
          </a:p>
          <a:p>
            <a:pPr algn="just"/>
            <a:r>
              <a:rPr lang="pt-BR" sz="3200" dirty="0">
                <a:latin typeface="Calibri Light" panose="020F0302020204030204" pitchFamily="34" charset="0"/>
                <a:ea typeface="Calibri Light" panose="020F0302020204030204" pitchFamily="34" charset="0"/>
                <a:cs typeface="Calibri Light" panose="020F0302020204030204" pitchFamily="34" charset="0"/>
              </a:rPr>
              <a:t>Cada desafio no ambiente de trabalho é uma chance de crescer, aprender e mostrar ao mundo que, além da surdez, existem inúmeras possibilidades. </a:t>
            </a:r>
            <a:endParaRPr lang="pt-BR" sz="3200" dirty="0" smtClean="0">
              <a:latin typeface="Calibri Light" panose="020F0302020204030204" pitchFamily="34" charset="0"/>
              <a:ea typeface="Calibri Light" panose="020F0302020204030204" pitchFamily="34" charset="0"/>
              <a:cs typeface="Calibri Light" panose="020F0302020204030204" pitchFamily="34" charset="0"/>
            </a:endParaRPr>
          </a:p>
          <a:p>
            <a:pPr algn="just"/>
            <a:endParaRPr lang="pt-BR" sz="3200" dirty="0">
              <a:latin typeface="Calibri Light" panose="020F0302020204030204" pitchFamily="34" charset="0"/>
              <a:ea typeface="Calibri Light" panose="020F0302020204030204" pitchFamily="34" charset="0"/>
              <a:cs typeface="Calibri Light" panose="020F0302020204030204" pitchFamily="34" charset="0"/>
            </a:endParaRPr>
          </a:p>
          <a:p>
            <a:pPr algn="just"/>
            <a:r>
              <a:rPr lang="pt-BR" sz="3200" dirty="0" smtClean="0">
                <a:latin typeface="Calibri Light" panose="020F0302020204030204" pitchFamily="34" charset="0"/>
                <a:ea typeface="Calibri Light" panose="020F0302020204030204" pitchFamily="34" charset="0"/>
                <a:cs typeface="Calibri Light" panose="020F0302020204030204" pitchFamily="34" charset="0"/>
              </a:rPr>
              <a:t>Com </a:t>
            </a:r>
            <a:r>
              <a:rPr lang="pt-BR" sz="3200" dirty="0">
                <a:latin typeface="Calibri Light" panose="020F0302020204030204" pitchFamily="34" charset="0"/>
                <a:ea typeface="Calibri Light" panose="020F0302020204030204" pitchFamily="34" charset="0"/>
                <a:cs typeface="Calibri Light" panose="020F0302020204030204" pitchFamily="34" charset="0"/>
              </a:rPr>
              <a:t>persistência, coragem e a busca por soluções criativas, qualquer deficiente auditivo pode conquistar o seu lugar e brilhar no mercado de trabalho.</a:t>
            </a:r>
          </a:p>
        </p:txBody>
      </p:sp>
      <p:sp>
        <p:nvSpPr>
          <p:cNvPr id="5" name="Retângulo 4"/>
          <p:cNvSpPr/>
          <p:nvPr/>
        </p:nvSpPr>
        <p:spPr>
          <a:xfrm rot="16200000">
            <a:off x="-726143" y="1048867"/>
            <a:ext cx="1805894" cy="148417"/>
          </a:xfrm>
          <a:prstGeom prst="rect">
            <a:avLst/>
          </a:prstGeom>
          <a:solidFill>
            <a:srgbClr val="D60093"/>
          </a:solidFill>
          <a:ln>
            <a:no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spaço Reservado para Rodapé 5"/>
          <p:cNvSpPr>
            <a:spLocks noGrp="1"/>
          </p:cNvSpPr>
          <p:nvPr>
            <p:ph type="ftr" sz="quarter" idx="11"/>
          </p:nvPr>
        </p:nvSpPr>
        <p:spPr/>
        <p:txBody>
          <a:bodyPr/>
          <a:lstStyle/>
          <a:p>
            <a:r>
              <a:rPr lang="pt-BR" smtClean="0">
                <a:latin typeface="Impact" panose="020B0806030902050204" pitchFamily="34" charset="0"/>
              </a:rPr>
              <a:t>Além da Surdez: Vencendo Desafios no Mercado de Trabalho - Keylla Silva Lopes</a:t>
            </a:r>
            <a:endParaRPr lang="pt-BR" dirty="0">
              <a:latin typeface="Impact" panose="020B0806030902050204" pitchFamily="34" charset="0"/>
            </a:endParaRPr>
          </a:p>
        </p:txBody>
      </p:sp>
      <p:sp>
        <p:nvSpPr>
          <p:cNvPr id="7" name="Espaço Reservado para Número de Slide 6"/>
          <p:cNvSpPr>
            <a:spLocks noGrp="1"/>
          </p:cNvSpPr>
          <p:nvPr>
            <p:ph type="sldNum" sz="quarter" idx="12"/>
          </p:nvPr>
        </p:nvSpPr>
        <p:spPr/>
        <p:txBody>
          <a:bodyPr/>
          <a:lstStyle/>
          <a:p>
            <a:fld id="{A1070A76-9721-4EC6-9400-468C99D088FF}" type="slidenum">
              <a:rPr lang="pt-BR" smtClean="0"/>
              <a:t>14</a:t>
            </a:fld>
            <a:endParaRPr lang="pt-BR"/>
          </a:p>
        </p:txBody>
      </p:sp>
    </p:spTree>
    <p:extLst>
      <p:ext uri="{BB962C8B-B14F-4D97-AF65-F5344CB8AC3E}">
        <p14:creationId xmlns:p14="http://schemas.microsoft.com/office/powerpoint/2010/main" val="365502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ulo_componente"/>
          <p:cNvSpPr txBox="1"/>
          <p:nvPr/>
        </p:nvSpPr>
        <p:spPr>
          <a:xfrm>
            <a:off x="406400" y="1424905"/>
            <a:ext cx="8701740" cy="707886"/>
          </a:xfrm>
          <a:prstGeom prst="rect">
            <a:avLst/>
          </a:prstGeom>
          <a:noFill/>
        </p:spPr>
        <p:txBody>
          <a:bodyPr wrap="square" rtlCol="0">
            <a:spAutoFit/>
          </a:bodyPr>
          <a:lstStyle/>
          <a:p>
            <a:r>
              <a:rPr lang="pt-BR" sz="4000" b="1" dirty="0" smtClean="0">
                <a:latin typeface="Impact" panose="020B0806030902050204" pitchFamily="34" charset="0"/>
                <a:ea typeface="Calibri" panose="020F0502020204030204" pitchFamily="34" charset="0"/>
                <a:cs typeface="Calibri" panose="020F0502020204030204" pitchFamily="34" charset="0"/>
              </a:rPr>
              <a:t>Obrigada por ler até aqui</a:t>
            </a:r>
            <a:endParaRPr lang="pt-BR" sz="4000" b="1" dirty="0">
              <a:latin typeface="Impact" panose="020B0806030902050204" pitchFamily="34" charset="0"/>
              <a:ea typeface="Calibri" panose="020F0502020204030204" pitchFamily="34" charset="0"/>
              <a:cs typeface="Calibri" panose="020F0502020204030204" pitchFamily="34" charset="0"/>
            </a:endParaRPr>
          </a:p>
        </p:txBody>
      </p:sp>
      <p:sp>
        <p:nvSpPr>
          <p:cNvPr id="3" name="subtitulo_componente"/>
          <p:cNvSpPr txBox="1"/>
          <p:nvPr/>
        </p:nvSpPr>
        <p:spPr>
          <a:xfrm>
            <a:off x="406399" y="2629702"/>
            <a:ext cx="8701741" cy="4524315"/>
          </a:xfrm>
          <a:prstGeom prst="rect">
            <a:avLst/>
          </a:prstGeom>
          <a:noFill/>
        </p:spPr>
        <p:txBody>
          <a:bodyPr wrap="square" rtlCol="0">
            <a:spAutoFit/>
          </a:bodyPr>
          <a:lstStyle/>
          <a:p>
            <a:pPr algn="ctr"/>
            <a:r>
              <a:rPr lang="pt-BR" sz="3200" dirty="0" smtClean="0">
                <a:latin typeface="Calibri Light" panose="020F0302020204030204" pitchFamily="34" charset="0"/>
                <a:ea typeface="Calibri Light" panose="020F0302020204030204" pitchFamily="34" charset="0"/>
                <a:cs typeface="Calibri Light" panose="020F0302020204030204" pitchFamily="34" charset="0"/>
              </a:rPr>
              <a:t>Este E-book foi gerado por IA, e diagramado por humano. </a:t>
            </a:r>
          </a:p>
          <a:p>
            <a:pPr algn="ctr"/>
            <a:endParaRPr lang="pt-BR" sz="3200" dirty="0">
              <a:latin typeface="Calibri Light" panose="020F0302020204030204" pitchFamily="34" charset="0"/>
              <a:ea typeface="Calibri Light" panose="020F0302020204030204" pitchFamily="34" charset="0"/>
              <a:cs typeface="Calibri Light" panose="020F0302020204030204" pitchFamily="34" charset="0"/>
            </a:endParaRPr>
          </a:p>
          <a:p>
            <a:pPr algn="ctr"/>
            <a:r>
              <a:rPr lang="pt-BR" sz="3200" dirty="0" smtClean="0">
                <a:latin typeface="Calibri Light" panose="020F0302020204030204" pitchFamily="34" charset="0"/>
                <a:ea typeface="Calibri Light" panose="020F0302020204030204" pitchFamily="34" charset="0"/>
                <a:cs typeface="Calibri Light" panose="020F0302020204030204" pitchFamily="34" charset="0"/>
              </a:rPr>
              <a:t>Este conteúdo foi gerado com fins didáticos de construção, sem realização de validação cuidadosa humana no conteúdo e pode conter erros gerados por uma IA. </a:t>
            </a:r>
          </a:p>
          <a:p>
            <a:pPr algn="ctr"/>
            <a:endParaRPr lang="pt-BR" sz="3200" dirty="0">
              <a:latin typeface="Calibri Light" panose="020F0302020204030204" pitchFamily="34" charset="0"/>
              <a:ea typeface="Calibri Light" panose="020F0302020204030204" pitchFamily="34" charset="0"/>
              <a:cs typeface="Calibri Light" panose="020F0302020204030204" pitchFamily="34" charset="0"/>
            </a:endParaRPr>
          </a:p>
          <a:p>
            <a:pPr algn="ctr"/>
            <a:r>
              <a:rPr lang="pt-BR" sz="3200" dirty="0" smtClean="0">
                <a:latin typeface="Calibri Light" panose="020F0302020204030204" pitchFamily="34" charset="0"/>
                <a:ea typeface="Calibri Light" panose="020F0302020204030204" pitchFamily="34" charset="0"/>
                <a:cs typeface="Calibri Light" panose="020F0302020204030204" pitchFamily="34" charset="0"/>
              </a:rPr>
              <a:t>Visite minha página no GitHub:</a:t>
            </a:r>
            <a:endParaRPr lang="pt-BR" sz="3200"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5" name="Retângulo 4"/>
          <p:cNvSpPr/>
          <p:nvPr/>
        </p:nvSpPr>
        <p:spPr>
          <a:xfrm rot="16200000">
            <a:off x="-726143" y="1048867"/>
            <a:ext cx="1805894" cy="148417"/>
          </a:xfrm>
          <a:prstGeom prst="rect">
            <a:avLst/>
          </a:prstGeom>
          <a:solidFill>
            <a:srgbClr val="D60093"/>
          </a:solidFill>
          <a:ln>
            <a:no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spaço Reservado para Rodapé 5"/>
          <p:cNvSpPr>
            <a:spLocks noGrp="1"/>
          </p:cNvSpPr>
          <p:nvPr>
            <p:ph type="ftr" sz="quarter" idx="11"/>
          </p:nvPr>
        </p:nvSpPr>
        <p:spPr/>
        <p:txBody>
          <a:bodyPr/>
          <a:lstStyle/>
          <a:p>
            <a:r>
              <a:rPr lang="pt-BR" smtClean="0">
                <a:latin typeface="Impact" panose="020B0806030902050204" pitchFamily="34" charset="0"/>
              </a:rPr>
              <a:t>Além da Surdez: Vencendo Desafios no Mercado de Trabalho - Keylla Silva Lopes</a:t>
            </a:r>
            <a:endParaRPr lang="pt-BR" dirty="0">
              <a:latin typeface="Impact" panose="020B0806030902050204" pitchFamily="34" charset="0"/>
            </a:endParaRPr>
          </a:p>
        </p:txBody>
      </p:sp>
      <p:sp>
        <p:nvSpPr>
          <p:cNvPr id="7" name="Espaço Reservado para Número de Slide 6"/>
          <p:cNvSpPr>
            <a:spLocks noGrp="1"/>
          </p:cNvSpPr>
          <p:nvPr>
            <p:ph type="sldNum" sz="quarter" idx="12"/>
          </p:nvPr>
        </p:nvSpPr>
        <p:spPr/>
        <p:txBody>
          <a:bodyPr/>
          <a:lstStyle/>
          <a:p>
            <a:fld id="{A1070A76-9721-4EC6-9400-468C99D088FF}" type="slidenum">
              <a:rPr lang="pt-BR" smtClean="0"/>
              <a:t>15</a:t>
            </a:fld>
            <a:endParaRPr lang="pt-BR"/>
          </a:p>
        </p:txBody>
      </p:sp>
      <p:pic>
        <p:nvPicPr>
          <p:cNvPr id="8" name="Imagem 7"/>
          <p:cNvPicPr>
            <a:picLocks noChangeAspect="1"/>
          </p:cNvPicPr>
          <p:nvPr/>
        </p:nvPicPr>
        <p:blipFill>
          <a:blip r:embed="rId2"/>
          <a:stretch>
            <a:fillRect/>
          </a:stretch>
        </p:blipFill>
        <p:spPr>
          <a:xfrm>
            <a:off x="4082139" y="7319218"/>
            <a:ext cx="1436922" cy="1573769"/>
          </a:xfrm>
          <a:prstGeom prst="rect">
            <a:avLst/>
          </a:prstGeom>
        </p:spPr>
      </p:pic>
      <p:sp>
        <p:nvSpPr>
          <p:cNvPr id="9" name="Retângulo 8"/>
          <p:cNvSpPr/>
          <p:nvPr/>
        </p:nvSpPr>
        <p:spPr>
          <a:xfrm>
            <a:off x="3926541" y="9126071"/>
            <a:ext cx="1757083" cy="7709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3600" dirty="0" smtClean="0">
                <a:solidFill>
                  <a:schemeClr val="tx1"/>
                </a:solidFill>
                <a:latin typeface="Calibri" panose="020F0502020204030204" pitchFamily="34" charset="0"/>
                <a:ea typeface="Calibri" panose="020F0502020204030204" pitchFamily="34" charset="0"/>
                <a:cs typeface="Calibri" panose="020F0502020204030204" pitchFamily="34" charset="0"/>
                <a:hlinkClick r:id="rId3"/>
              </a:rPr>
              <a:t>LINK</a:t>
            </a:r>
            <a:endParaRPr lang="pt-BR" sz="3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75722773"/>
      </p:ext>
    </p:extLst>
  </p:cSld>
  <p:clrMapOvr>
    <a:masterClrMapping/>
  </p:clrMapOvr>
</p:sld>
</file>

<file path=ppt/theme/theme1.xml><?xml version="1.0" encoding="utf-8"?>
<a:theme xmlns:a="http://schemas.openxmlformats.org/drawingml/2006/main" name="Tema do Office">
  <a:themeElements>
    <a:clrScheme name="Tema do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o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1664</TotalTime>
  <Words>1168</Words>
  <Application>Microsoft Office PowerPoint</Application>
  <PresentationFormat>Papel A3 (297x420 mm)</PresentationFormat>
  <Paragraphs>84</Paragraphs>
  <Slides>15</Slides>
  <Notes>1</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15</vt:i4>
      </vt:variant>
    </vt:vector>
  </HeadingPairs>
  <TitlesOfParts>
    <vt:vector size="22" baseType="lpstr">
      <vt:lpstr>Aptos</vt:lpstr>
      <vt:lpstr>Aptos Display</vt:lpstr>
      <vt:lpstr>Arial</vt:lpstr>
      <vt:lpstr>Calibri</vt:lpstr>
      <vt:lpstr>Calibri Light</vt:lpstr>
      <vt:lpstr>Impact</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Além da Surdez: Vencendo desafios no Mercado de Trabalho</dc:title>
  <dc:subject>Surdez</dc:subject>
  <dc:creator>Keylla</dc:creator>
  <cp:lastModifiedBy>Conta da Microsoft</cp:lastModifiedBy>
  <cp:revision>18</cp:revision>
  <dcterms:created xsi:type="dcterms:W3CDTF">2025-01-12T00:08:15Z</dcterms:created>
  <dcterms:modified xsi:type="dcterms:W3CDTF">2025-01-13T03:54:14Z</dcterms:modified>
</cp:coreProperties>
</file>